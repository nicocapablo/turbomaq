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88" r:id="rId4"/>
    <p:sldId id="271" r:id="rId5"/>
    <p:sldId id="272" r:id="rId6"/>
    <p:sldId id="276" r:id="rId7"/>
    <p:sldId id="289" r:id="rId8"/>
    <p:sldId id="273" r:id="rId9"/>
    <p:sldId id="290" r:id="rId10"/>
    <p:sldId id="274" r:id="rId11"/>
    <p:sldId id="263" r:id="rId12"/>
    <p:sldId id="291" r:id="rId13"/>
    <p:sldId id="292" r:id="rId14"/>
    <p:sldId id="293" r:id="rId15"/>
    <p:sldId id="294" r:id="rId16"/>
    <p:sldId id="295" r:id="rId17"/>
    <p:sldId id="260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Corbel" panose="020B05030202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iNiZZ8xH6ki0KODcJHfTy6KtPF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95" autoAdjust="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x\Desktop\Nuevo%20Hoja%20de%20c&#225;lculo%20de%20Microsoft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Corba característica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Hoja1!$D$6:$D$13</c:f>
              <c:numCache>
                <c:formatCode>General</c:formatCode>
                <c:ptCount val="8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</c:numCache>
            </c:numRef>
          </c:xVal>
          <c:yVal>
            <c:numRef>
              <c:f>Hoja1!$E$6:$E$13</c:f>
              <c:numCache>
                <c:formatCode>General</c:formatCode>
                <c:ptCount val="8"/>
                <c:pt idx="0">
                  <c:v>80</c:v>
                </c:pt>
                <c:pt idx="1">
                  <c:v>78.75</c:v>
                </c:pt>
                <c:pt idx="2">
                  <c:v>75</c:v>
                </c:pt>
                <c:pt idx="3">
                  <c:v>68.75</c:v>
                </c:pt>
                <c:pt idx="4">
                  <c:v>60</c:v>
                </c:pt>
                <c:pt idx="5">
                  <c:v>48.75</c:v>
                </c:pt>
                <c:pt idx="6">
                  <c:v>35</c:v>
                </c:pt>
                <c:pt idx="7">
                  <c:v>18.75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E7A-402E-81FC-3EEB5A151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51060223"/>
        <c:axId val="1151062623"/>
      </c:scatterChart>
      <c:valAx>
        <c:axId val="11510602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Cabal (m^3/s)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51062623"/>
        <c:crosses val="autoZero"/>
        <c:crossBetween val="midCat"/>
      </c:valAx>
      <c:valAx>
        <c:axId val="1151062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Head (m)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5106022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7956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7137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9851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9694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9879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0483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5971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3411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306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2388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0914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2239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434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1785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0320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orbel"/>
              <a:buNone/>
              <a:defRPr sz="59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D7F0F6"/>
                </a:solidFill>
              </a:defRPr>
            </a:lvl1pPr>
            <a:lvl2pPr lvl="1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5900"/>
              <a:buFont typeface="Corbel"/>
              <a:buNone/>
              <a:defRPr sz="5900" b="0"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None/>
              <a:defRPr sz="2200" cap="none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867912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7818120" y="868680"/>
            <a:ext cx="347472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2"/>
          </p:nvPr>
        </p:nvSpPr>
        <p:spPr>
          <a:xfrm>
            <a:off x="3867912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3"/>
          </p:nvPr>
        </p:nvSpPr>
        <p:spPr>
          <a:xfrm>
            <a:off x="7818463" y="1023586"/>
            <a:ext cx="3474720" cy="81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4"/>
          </p:nvPr>
        </p:nvSpPr>
        <p:spPr>
          <a:xfrm>
            <a:off x="7818463" y="1930936"/>
            <a:ext cx="34747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867912" y="868680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2"/>
          </p:nvPr>
        </p:nvSpPr>
        <p:spPr>
          <a:xfrm>
            <a:off x="256032" y="3494176"/>
            <a:ext cx="2834640" cy="2321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rbel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>
            <a:spLocks noGrp="1"/>
          </p:cNvSpPr>
          <p:nvPr>
            <p:ph type="pic" idx="2"/>
          </p:nvPr>
        </p:nvSpPr>
        <p:spPr>
          <a:xfrm>
            <a:off x="3570644" y="767419"/>
            <a:ext cx="8115230" cy="5330952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256032" y="3493008"/>
            <a:ext cx="2834640" cy="2322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3499101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 rot="5400000">
            <a:off x="4966548" y="-233172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 rot="5400000">
            <a:off x="-685800" y="2057400"/>
            <a:ext cx="4953000" cy="28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 rot="5400000">
            <a:off x="4965192" y="-228600"/>
            <a:ext cx="5120640" cy="73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orbel"/>
              <a:buNone/>
              <a:defRPr sz="3600" b="0" i="0" u="none" strike="noStrike" cap="non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6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2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4.emf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27.png"/><Relationship Id="rId9" Type="http://schemas.openxmlformats.org/officeDocument/2006/relationships/image" Target="../media/image1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>
            <a:spLocks noGrp="1"/>
          </p:cNvSpPr>
          <p:nvPr>
            <p:ph type="title"/>
          </p:nvPr>
        </p:nvSpPr>
        <p:spPr>
          <a:xfrm>
            <a:off x="252919" y="999548"/>
            <a:ext cx="2764601" cy="46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3600"/>
            </a:pPr>
            <a:r>
              <a:rPr lang="es-ES"/>
              <a:t>Unitat  3. </a:t>
            </a:r>
            <a:br>
              <a:rPr lang="es-ES"/>
            </a:br>
            <a:r>
              <a:rPr lang="es-ES"/>
              <a:t>Regulació i p</a:t>
            </a:r>
            <a:r>
              <a:rPr lang="fr-FR"/>
              <a:t>re-disseny d'un circuit de bombeig</a:t>
            </a:r>
            <a:br>
              <a:rPr lang="es-ES"/>
            </a:br>
            <a:endParaRPr/>
          </a:p>
        </p:txBody>
      </p:sp>
      <p:pic>
        <p:nvPicPr>
          <p:cNvPr id="93" name="Google Shape;93;p1" descr="Imagen que contiene Texto&#10;&#10;El contenido generado por IA puede ser incorrec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6223497"/>
            <a:ext cx="2381250" cy="63450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8742784" y="0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4724400" y="6241419"/>
            <a:ext cx="2743200" cy="61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b="1">
                <a:solidFill>
                  <a:srgbClr val="0178C8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b="1">
              <a:solidFill>
                <a:srgbClr val="0178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566288" y="497448"/>
            <a:ext cx="8487052" cy="4324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3.1 REGULACIÓ EN CIRCUITS DE BOMBEIG</a:t>
            </a:r>
          </a:p>
          <a:p>
            <a:pPr marL="342900" marR="0" lvl="0" indent="-34290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3.1.1 VARIACIÓ CORBA RESISTENT DEL CIRCUIT.</a:t>
            </a:r>
          </a:p>
          <a:p>
            <a:pPr marL="342900" marR="0" lvl="0" indent="-34290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3.1.1.1 ESTRANGULAMENT AMB VÀLVULES EN SERIE</a:t>
            </a:r>
          </a:p>
          <a:p>
            <a:pPr marL="342900" indent="-342900" algn="just">
              <a:spcBef>
                <a:spcPts val="600"/>
              </a:spcBef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3.1.1.2 VÀLVULES EN PARAL·LEL (BY-PASS)</a:t>
            </a:r>
          </a:p>
          <a:p>
            <a:pPr marL="342900" marR="0" lvl="0" indent="-34290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3.1.2 VARIACIÓ DE LA CORBA CARACTERÍSTICA DE LA BOMBA</a:t>
            </a:r>
          </a:p>
          <a:p>
            <a:pPr marL="342900" lvl="0" indent="-342900" algn="just">
              <a:spcBef>
                <a:spcPts val="600"/>
              </a:spcBef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3.1.2.1 VARIACIÓ DE VELOCITAT</a:t>
            </a:r>
          </a:p>
          <a:p>
            <a:pPr marL="342900" indent="-342900" algn="just">
              <a:spcBef>
                <a:spcPts val="600"/>
              </a:spcBef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3.1.2.2 VARIACIÓ DE DIÀMETRE</a:t>
            </a:r>
          </a:p>
          <a:p>
            <a:pPr marL="342900" indent="-342900" algn="just">
              <a:spcBef>
                <a:spcPts val="600"/>
              </a:spcBef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3.1.2.3 POSICIÓ DELS ÀLEPS (AXIALS)</a:t>
            </a:r>
          </a:p>
          <a:p>
            <a:pPr marL="342900" indent="-342900" algn="just">
              <a:spcBef>
                <a:spcPts val="600"/>
              </a:spcBef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3.1.2.4 BOMBES EN SERIE</a:t>
            </a:r>
          </a:p>
          <a:p>
            <a:pPr marL="342900" indent="-342900" algn="just">
              <a:spcBef>
                <a:spcPts val="600"/>
              </a:spcBef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3.1.2.5 BOMBES EN PARAL·LEL</a:t>
            </a:r>
          </a:p>
          <a:p>
            <a:pPr marL="342900" marR="0" lvl="0" indent="-34290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3.2  EXEMPLES I LLIURABLES</a:t>
            </a:r>
            <a:endParaRPr sz="20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351E78E9-D56F-4408-916A-099A83E8AE40}"/>
              </a:ext>
            </a:extLst>
          </p:cNvPr>
          <p:cNvSpPr>
            <a:spLocks noEditPoints="1"/>
          </p:cNvSpPr>
          <p:nvPr/>
        </p:nvSpPr>
        <p:spPr bwMode="auto">
          <a:xfrm>
            <a:off x="951072" y="2260935"/>
            <a:ext cx="109537" cy="3235325"/>
          </a:xfrm>
          <a:custGeom>
            <a:avLst/>
            <a:gdLst>
              <a:gd name="T0" fmla="*/ 2147483646 w 261"/>
              <a:gd name="T1" fmla="*/ 2147483646 h 7802"/>
              <a:gd name="T2" fmla="*/ 2147483646 w 261"/>
              <a:gd name="T3" fmla="*/ 2147483646 h 7802"/>
              <a:gd name="T4" fmla="*/ 2147483646 w 261"/>
              <a:gd name="T5" fmla="*/ 2147483646 h 7802"/>
              <a:gd name="T6" fmla="*/ 2147483646 w 261"/>
              <a:gd name="T7" fmla="*/ 2147483646 h 7802"/>
              <a:gd name="T8" fmla="*/ 2147483646 w 261"/>
              <a:gd name="T9" fmla="*/ 2147483646 h 7802"/>
              <a:gd name="T10" fmla="*/ 2147483646 w 261"/>
              <a:gd name="T11" fmla="*/ 2147483646 h 7802"/>
              <a:gd name="T12" fmla="*/ 2147483646 w 261"/>
              <a:gd name="T13" fmla="*/ 0 h 7802"/>
              <a:gd name="T14" fmla="*/ 2147483646 w 261"/>
              <a:gd name="T15" fmla="*/ 2147483646 h 7802"/>
              <a:gd name="T16" fmla="*/ 2147483646 w 261"/>
              <a:gd name="T17" fmla="*/ 2147483646 h 7802"/>
              <a:gd name="T18" fmla="*/ 2147483646 w 261"/>
              <a:gd name="T19" fmla="*/ 2147483646 h 7802"/>
              <a:gd name="T20" fmla="*/ 2147483646 w 261"/>
              <a:gd name="T21" fmla="*/ 2147483646 h 7802"/>
              <a:gd name="T22" fmla="*/ 2147483646 w 261"/>
              <a:gd name="T23" fmla="*/ 2147483646 h 7802"/>
              <a:gd name="T24" fmla="*/ 2147483646 w 261"/>
              <a:gd name="T25" fmla="*/ 2147483646 h 7802"/>
              <a:gd name="T26" fmla="*/ 2147483646 w 261"/>
              <a:gd name="T27" fmla="*/ 2147483646 h 7802"/>
              <a:gd name="T28" fmla="*/ 2147483646 w 261"/>
              <a:gd name="T29" fmla="*/ 2147483646 h 780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61"/>
              <a:gd name="T46" fmla="*/ 0 h 7802"/>
              <a:gd name="T47" fmla="*/ 261 w 261"/>
              <a:gd name="T48" fmla="*/ 7802 h 780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61" h="7802">
                <a:moveTo>
                  <a:pt x="114" y="7802"/>
                </a:moveTo>
                <a:lnTo>
                  <a:pt x="114" y="32"/>
                </a:lnTo>
                <a:lnTo>
                  <a:pt x="146" y="32"/>
                </a:lnTo>
                <a:lnTo>
                  <a:pt x="146" y="7802"/>
                </a:lnTo>
                <a:lnTo>
                  <a:pt x="114" y="7802"/>
                </a:lnTo>
                <a:close/>
                <a:moveTo>
                  <a:pt x="5" y="216"/>
                </a:moveTo>
                <a:lnTo>
                  <a:pt x="130" y="0"/>
                </a:lnTo>
                <a:lnTo>
                  <a:pt x="256" y="216"/>
                </a:lnTo>
                <a:cubicBezTo>
                  <a:pt x="261" y="224"/>
                  <a:pt x="258" y="234"/>
                  <a:pt x="251" y="238"/>
                </a:cubicBezTo>
                <a:cubicBezTo>
                  <a:pt x="243" y="242"/>
                  <a:pt x="233" y="240"/>
                  <a:pt x="229" y="232"/>
                </a:cubicBezTo>
                <a:lnTo>
                  <a:pt x="117" y="40"/>
                </a:lnTo>
                <a:lnTo>
                  <a:pt x="144" y="40"/>
                </a:lnTo>
                <a:lnTo>
                  <a:pt x="32" y="232"/>
                </a:lnTo>
                <a:cubicBezTo>
                  <a:pt x="28" y="240"/>
                  <a:pt x="18" y="242"/>
                  <a:pt x="10" y="238"/>
                </a:cubicBezTo>
                <a:cubicBezTo>
                  <a:pt x="3" y="234"/>
                  <a:pt x="0" y="224"/>
                  <a:pt x="5" y="216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ca-ES" dirty="0"/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3A328814-B86B-42C5-A17C-F8D5518C1B08}"/>
              </a:ext>
            </a:extLst>
          </p:cNvPr>
          <p:cNvSpPr>
            <a:spLocks noEditPoints="1"/>
          </p:cNvSpPr>
          <p:nvPr/>
        </p:nvSpPr>
        <p:spPr bwMode="auto">
          <a:xfrm>
            <a:off x="1005047" y="5437523"/>
            <a:ext cx="5870575" cy="109537"/>
          </a:xfrm>
          <a:custGeom>
            <a:avLst/>
            <a:gdLst>
              <a:gd name="T0" fmla="*/ 0 w 14153"/>
              <a:gd name="T1" fmla="*/ 2147483646 h 261"/>
              <a:gd name="T2" fmla="*/ 2147483646 w 14153"/>
              <a:gd name="T3" fmla="*/ 2147483646 h 261"/>
              <a:gd name="T4" fmla="*/ 2147483646 w 14153"/>
              <a:gd name="T5" fmla="*/ 2147483646 h 261"/>
              <a:gd name="T6" fmla="*/ 0 w 14153"/>
              <a:gd name="T7" fmla="*/ 2147483646 h 261"/>
              <a:gd name="T8" fmla="*/ 0 w 14153"/>
              <a:gd name="T9" fmla="*/ 2147483646 h 261"/>
              <a:gd name="T10" fmla="*/ 2147483646 w 14153"/>
              <a:gd name="T11" fmla="*/ 2147483646 h 261"/>
              <a:gd name="T12" fmla="*/ 2147483646 w 14153"/>
              <a:gd name="T13" fmla="*/ 2147483646 h 261"/>
              <a:gd name="T14" fmla="*/ 2147483646 w 14153"/>
              <a:gd name="T15" fmla="*/ 2147483646 h 261"/>
              <a:gd name="T16" fmla="*/ 2147483646 w 14153"/>
              <a:gd name="T17" fmla="*/ 2147483646 h 261"/>
              <a:gd name="T18" fmla="*/ 2147483646 w 14153"/>
              <a:gd name="T19" fmla="*/ 2147483646 h 261"/>
              <a:gd name="T20" fmla="*/ 2147483646 w 14153"/>
              <a:gd name="T21" fmla="*/ 2147483646 h 261"/>
              <a:gd name="T22" fmla="*/ 2147483646 w 14153"/>
              <a:gd name="T23" fmla="*/ 2147483646 h 261"/>
              <a:gd name="T24" fmla="*/ 2147483646 w 14153"/>
              <a:gd name="T25" fmla="*/ 2147483646 h 261"/>
              <a:gd name="T26" fmla="*/ 2147483646 w 14153"/>
              <a:gd name="T27" fmla="*/ 2147483646 h 261"/>
              <a:gd name="T28" fmla="*/ 2147483646 w 14153"/>
              <a:gd name="T29" fmla="*/ 2147483646 h 26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4153"/>
              <a:gd name="T46" fmla="*/ 0 h 261"/>
              <a:gd name="T47" fmla="*/ 14153 w 14153"/>
              <a:gd name="T48" fmla="*/ 261 h 26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4153" h="261">
                <a:moveTo>
                  <a:pt x="0" y="114"/>
                </a:moveTo>
                <a:lnTo>
                  <a:pt x="14121" y="114"/>
                </a:lnTo>
                <a:lnTo>
                  <a:pt x="14121" y="146"/>
                </a:lnTo>
                <a:lnTo>
                  <a:pt x="0" y="146"/>
                </a:lnTo>
                <a:lnTo>
                  <a:pt x="0" y="114"/>
                </a:lnTo>
                <a:close/>
                <a:moveTo>
                  <a:pt x="13937" y="5"/>
                </a:moveTo>
                <a:lnTo>
                  <a:pt x="14153" y="130"/>
                </a:lnTo>
                <a:lnTo>
                  <a:pt x="13937" y="256"/>
                </a:lnTo>
                <a:cubicBezTo>
                  <a:pt x="13929" y="261"/>
                  <a:pt x="13920" y="258"/>
                  <a:pt x="13915" y="251"/>
                </a:cubicBezTo>
                <a:cubicBezTo>
                  <a:pt x="13911" y="243"/>
                  <a:pt x="13913" y="233"/>
                  <a:pt x="13921" y="229"/>
                </a:cubicBezTo>
                <a:lnTo>
                  <a:pt x="14113" y="117"/>
                </a:lnTo>
                <a:lnTo>
                  <a:pt x="14113" y="144"/>
                </a:lnTo>
                <a:lnTo>
                  <a:pt x="13921" y="32"/>
                </a:lnTo>
                <a:cubicBezTo>
                  <a:pt x="13913" y="28"/>
                  <a:pt x="13911" y="18"/>
                  <a:pt x="13915" y="10"/>
                </a:cubicBezTo>
                <a:cubicBezTo>
                  <a:pt x="13920" y="3"/>
                  <a:pt x="13929" y="0"/>
                  <a:pt x="13937" y="5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ca-ES" dirty="0"/>
          </a:p>
        </p:txBody>
      </p:sp>
      <p:sp>
        <p:nvSpPr>
          <p:cNvPr id="26" name="Freeform 12">
            <a:extLst>
              <a:ext uri="{FF2B5EF4-FFF2-40B4-BE49-F238E27FC236}">
                <a16:creationId xmlns:a16="http://schemas.microsoft.com/office/drawing/2014/main" id="{106BD527-AF94-42F0-BAF8-6D0B92DDE5F3}"/>
              </a:ext>
            </a:extLst>
          </p:cNvPr>
          <p:cNvSpPr>
            <a:spLocks/>
          </p:cNvSpPr>
          <p:nvPr/>
        </p:nvSpPr>
        <p:spPr bwMode="auto">
          <a:xfrm>
            <a:off x="1001872" y="3316623"/>
            <a:ext cx="4300537" cy="2184400"/>
          </a:xfrm>
          <a:custGeom>
            <a:avLst/>
            <a:gdLst>
              <a:gd name="T0" fmla="*/ 2147483646 w 2709"/>
              <a:gd name="T1" fmla="*/ 2147483646 h 1376"/>
              <a:gd name="T2" fmla="*/ 2147483646 w 2709"/>
              <a:gd name="T3" fmla="*/ 2147483646 h 1376"/>
              <a:gd name="T4" fmla="*/ 2147483646 w 2709"/>
              <a:gd name="T5" fmla="*/ 2147483646 h 1376"/>
              <a:gd name="T6" fmla="*/ 2147483646 w 2709"/>
              <a:gd name="T7" fmla="*/ 2147483646 h 1376"/>
              <a:gd name="T8" fmla="*/ 2147483646 w 2709"/>
              <a:gd name="T9" fmla="*/ 2147483646 h 1376"/>
              <a:gd name="T10" fmla="*/ 2147483646 w 2709"/>
              <a:gd name="T11" fmla="*/ 2147483646 h 1376"/>
              <a:gd name="T12" fmla="*/ 2147483646 w 2709"/>
              <a:gd name="T13" fmla="*/ 2147483646 h 1376"/>
              <a:gd name="T14" fmla="*/ 2147483646 w 2709"/>
              <a:gd name="T15" fmla="*/ 2147483646 h 1376"/>
              <a:gd name="T16" fmla="*/ 2147483646 w 2709"/>
              <a:gd name="T17" fmla="*/ 2147483646 h 1376"/>
              <a:gd name="T18" fmla="*/ 2147483646 w 2709"/>
              <a:gd name="T19" fmla="*/ 2147483646 h 1376"/>
              <a:gd name="T20" fmla="*/ 2147483646 w 2709"/>
              <a:gd name="T21" fmla="*/ 2147483646 h 1376"/>
              <a:gd name="T22" fmla="*/ 2147483646 w 2709"/>
              <a:gd name="T23" fmla="*/ 2147483646 h 1376"/>
              <a:gd name="T24" fmla="*/ 2147483646 w 2709"/>
              <a:gd name="T25" fmla="*/ 2147483646 h 1376"/>
              <a:gd name="T26" fmla="*/ 2147483646 w 2709"/>
              <a:gd name="T27" fmla="*/ 2147483646 h 1376"/>
              <a:gd name="T28" fmla="*/ 2147483646 w 2709"/>
              <a:gd name="T29" fmla="*/ 2147483646 h 1376"/>
              <a:gd name="T30" fmla="*/ 2147483646 w 2709"/>
              <a:gd name="T31" fmla="*/ 2147483646 h 1376"/>
              <a:gd name="T32" fmla="*/ 2147483646 w 2709"/>
              <a:gd name="T33" fmla="*/ 2147483646 h 1376"/>
              <a:gd name="T34" fmla="*/ 2147483646 w 2709"/>
              <a:gd name="T35" fmla="*/ 2147483646 h 1376"/>
              <a:gd name="T36" fmla="*/ 2147483646 w 2709"/>
              <a:gd name="T37" fmla="*/ 2147483646 h 1376"/>
              <a:gd name="T38" fmla="*/ 2147483646 w 2709"/>
              <a:gd name="T39" fmla="*/ 2147483646 h 1376"/>
              <a:gd name="T40" fmla="*/ 2147483646 w 2709"/>
              <a:gd name="T41" fmla="*/ 2147483646 h 1376"/>
              <a:gd name="T42" fmla="*/ 2147483646 w 2709"/>
              <a:gd name="T43" fmla="*/ 2147483646 h 1376"/>
              <a:gd name="T44" fmla="*/ 2147483646 w 2709"/>
              <a:gd name="T45" fmla="*/ 2147483646 h 1376"/>
              <a:gd name="T46" fmla="*/ 2147483646 w 2709"/>
              <a:gd name="T47" fmla="*/ 2147483646 h 1376"/>
              <a:gd name="T48" fmla="*/ 2147483646 w 2709"/>
              <a:gd name="T49" fmla="*/ 2147483646 h 1376"/>
              <a:gd name="T50" fmla="*/ 2147483646 w 2709"/>
              <a:gd name="T51" fmla="*/ 2147483646 h 1376"/>
              <a:gd name="T52" fmla="*/ 2147483646 w 2709"/>
              <a:gd name="T53" fmla="*/ 2147483646 h 1376"/>
              <a:gd name="T54" fmla="*/ 2147483646 w 2709"/>
              <a:gd name="T55" fmla="*/ 2147483646 h 1376"/>
              <a:gd name="T56" fmla="*/ 2147483646 w 2709"/>
              <a:gd name="T57" fmla="*/ 2147483646 h 1376"/>
              <a:gd name="T58" fmla="*/ 2147483646 w 2709"/>
              <a:gd name="T59" fmla="*/ 2147483646 h 1376"/>
              <a:gd name="T60" fmla="*/ 2147483646 w 2709"/>
              <a:gd name="T61" fmla="*/ 2147483646 h 1376"/>
              <a:gd name="T62" fmla="*/ 2147483646 w 2709"/>
              <a:gd name="T63" fmla="*/ 2147483646 h 1376"/>
              <a:gd name="T64" fmla="*/ 2147483646 w 2709"/>
              <a:gd name="T65" fmla="*/ 2147483646 h 1376"/>
              <a:gd name="T66" fmla="*/ 2147483646 w 2709"/>
              <a:gd name="T67" fmla="*/ 2147483646 h 1376"/>
              <a:gd name="T68" fmla="*/ 2147483646 w 2709"/>
              <a:gd name="T69" fmla="*/ 2147483646 h 1376"/>
              <a:gd name="T70" fmla="*/ 2147483646 w 2709"/>
              <a:gd name="T71" fmla="*/ 2147483646 h 1376"/>
              <a:gd name="T72" fmla="*/ 2147483646 w 2709"/>
              <a:gd name="T73" fmla="*/ 2147483646 h 1376"/>
              <a:gd name="T74" fmla="*/ 2147483646 w 2709"/>
              <a:gd name="T75" fmla="*/ 2147483646 h 1376"/>
              <a:gd name="T76" fmla="*/ 2147483646 w 2709"/>
              <a:gd name="T77" fmla="*/ 2147483646 h 1376"/>
              <a:gd name="T78" fmla="*/ 2147483646 w 2709"/>
              <a:gd name="T79" fmla="*/ 2147483646 h 1376"/>
              <a:gd name="T80" fmla="*/ 2147483646 w 2709"/>
              <a:gd name="T81" fmla="*/ 2147483646 h 1376"/>
              <a:gd name="T82" fmla="*/ 2147483646 w 2709"/>
              <a:gd name="T83" fmla="*/ 2147483646 h 1376"/>
              <a:gd name="T84" fmla="*/ 2147483646 w 2709"/>
              <a:gd name="T85" fmla="*/ 2147483646 h 1376"/>
              <a:gd name="T86" fmla="*/ 2147483646 w 2709"/>
              <a:gd name="T87" fmla="*/ 2147483646 h 1376"/>
              <a:gd name="T88" fmla="*/ 2147483646 w 2709"/>
              <a:gd name="T89" fmla="*/ 2147483646 h 1376"/>
              <a:gd name="T90" fmla="*/ 2147483646 w 2709"/>
              <a:gd name="T91" fmla="*/ 2147483646 h 1376"/>
              <a:gd name="T92" fmla="*/ 2147483646 w 2709"/>
              <a:gd name="T93" fmla="*/ 2147483646 h 1376"/>
              <a:gd name="T94" fmla="*/ 2147483646 w 2709"/>
              <a:gd name="T95" fmla="*/ 2147483646 h 1376"/>
              <a:gd name="T96" fmla="*/ 2147483646 w 2709"/>
              <a:gd name="T97" fmla="*/ 2147483646 h 1376"/>
              <a:gd name="T98" fmla="*/ 2147483646 w 2709"/>
              <a:gd name="T99" fmla="*/ 2147483646 h 1376"/>
              <a:gd name="T100" fmla="*/ 2147483646 w 2709"/>
              <a:gd name="T101" fmla="*/ 2147483646 h 1376"/>
              <a:gd name="T102" fmla="*/ 2147483646 w 2709"/>
              <a:gd name="T103" fmla="*/ 2147483646 h 1376"/>
              <a:gd name="T104" fmla="*/ 0 w 2709"/>
              <a:gd name="T105" fmla="*/ 2147483646 h 137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2709"/>
              <a:gd name="T160" fmla="*/ 0 h 1376"/>
              <a:gd name="T161" fmla="*/ 2709 w 2709"/>
              <a:gd name="T162" fmla="*/ 1376 h 137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2709" h="1376">
                <a:moveTo>
                  <a:pt x="5" y="0"/>
                </a:moveTo>
                <a:lnTo>
                  <a:pt x="60" y="18"/>
                </a:lnTo>
                <a:lnTo>
                  <a:pt x="115" y="34"/>
                </a:lnTo>
                <a:lnTo>
                  <a:pt x="171" y="48"/>
                </a:lnTo>
                <a:lnTo>
                  <a:pt x="229" y="60"/>
                </a:lnTo>
                <a:lnTo>
                  <a:pt x="258" y="64"/>
                </a:lnTo>
                <a:lnTo>
                  <a:pt x="286" y="67"/>
                </a:lnTo>
                <a:lnTo>
                  <a:pt x="344" y="69"/>
                </a:lnTo>
                <a:lnTo>
                  <a:pt x="374" y="70"/>
                </a:lnTo>
                <a:lnTo>
                  <a:pt x="406" y="72"/>
                </a:lnTo>
                <a:lnTo>
                  <a:pt x="441" y="74"/>
                </a:lnTo>
                <a:lnTo>
                  <a:pt x="479" y="78"/>
                </a:lnTo>
                <a:lnTo>
                  <a:pt x="519" y="83"/>
                </a:lnTo>
                <a:lnTo>
                  <a:pt x="563" y="88"/>
                </a:lnTo>
                <a:lnTo>
                  <a:pt x="608" y="94"/>
                </a:lnTo>
                <a:lnTo>
                  <a:pt x="655" y="100"/>
                </a:lnTo>
                <a:lnTo>
                  <a:pt x="704" y="107"/>
                </a:lnTo>
                <a:lnTo>
                  <a:pt x="754" y="115"/>
                </a:lnTo>
                <a:lnTo>
                  <a:pt x="805" y="126"/>
                </a:lnTo>
                <a:lnTo>
                  <a:pt x="856" y="139"/>
                </a:lnTo>
                <a:lnTo>
                  <a:pt x="961" y="169"/>
                </a:lnTo>
                <a:lnTo>
                  <a:pt x="1016" y="186"/>
                </a:lnTo>
                <a:lnTo>
                  <a:pt x="1071" y="204"/>
                </a:lnTo>
                <a:lnTo>
                  <a:pt x="1127" y="224"/>
                </a:lnTo>
                <a:lnTo>
                  <a:pt x="1185" y="248"/>
                </a:lnTo>
                <a:lnTo>
                  <a:pt x="1245" y="274"/>
                </a:lnTo>
                <a:lnTo>
                  <a:pt x="1307" y="303"/>
                </a:lnTo>
                <a:lnTo>
                  <a:pt x="1371" y="336"/>
                </a:lnTo>
                <a:lnTo>
                  <a:pt x="1437" y="372"/>
                </a:lnTo>
                <a:lnTo>
                  <a:pt x="1504" y="411"/>
                </a:lnTo>
                <a:lnTo>
                  <a:pt x="1574" y="453"/>
                </a:lnTo>
                <a:lnTo>
                  <a:pt x="1644" y="496"/>
                </a:lnTo>
                <a:lnTo>
                  <a:pt x="1715" y="542"/>
                </a:lnTo>
                <a:lnTo>
                  <a:pt x="1856" y="637"/>
                </a:lnTo>
                <a:lnTo>
                  <a:pt x="1929" y="688"/>
                </a:lnTo>
                <a:lnTo>
                  <a:pt x="2005" y="744"/>
                </a:lnTo>
                <a:lnTo>
                  <a:pt x="2083" y="802"/>
                </a:lnTo>
                <a:lnTo>
                  <a:pt x="2160" y="861"/>
                </a:lnTo>
                <a:lnTo>
                  <a:pt x="2236" y="920"/>
                </a:lnTo>
                <a:lnTo>
                  <a:pt x="2307" y="977"/>
                </a:lnTo>
                <a:lnTo>
                  <a:pt x="2341" y="1005"/>
                </a:lnTo>
                <a:lnTo>
                  <a:pt x="2373" y="1031"/>
                </a:lnTo>
                <a:lnTo>
                  <a:pt x="2403" y="1056"/>
                </a:lnTo>
                <a:lnTo>
                  <a:pt x="2431" y="1080"/>
                </a:lnTo>
                <a:lnTo>
                  <a:pt x="2457" y="1102"/>
                </a:lnTo>
                <a:lnTo>
                  <a:pt x="2481" y="1123"/>
                </a:lnTo>
                <a:lnTo>
                  <a:pt x="2525" y="1164"/>
                </a:lnTo>
                <a:lnTo>
                  <a:pt x="2564" y="1202"/>
                </a:lnTo>
                <a:lnTo>
                  <a:pt x="2598" y="1237"/>
                </a:lnTo>
                <a:lnTo>
                  <a:pt x="2629" y="1271"/>
                </a:lnTo>
                <a:lnTo>
                  <a:pt x="2657" y="1303"/>
                </a:lnTo>
                <a:lnTo>
                  <a:pt x="2684" y="1335"/>
                </a:lnTo>
                <a:lnTo>
                  <a:pt x="2709" y="1365"/>
                </a:lnTo>
                <a:lnTo>
                  <a:pt x="2696" y="1376"/>
                </a:lnTo>
                <a:lnTo>
                  <a:pt x="2671" y="1345"/>
                </a:lnTo>
                <a:lnTo>
                  <a:pt x="2644" y="1314"/>
                </a:lnTo>
                <a:lnTo>
                  <a:pt x="2617" y="1282"/>
                </a:lnTo>
                <a:lnTo>
                  <a:pt x="2586" y="1249"/>
                </a:lnTo>
                <a:lnTo>
                  <a:pt x="2552" y="1214"/>
                </a:lnTo>
                <a:lnTo>
                  <a:pt x="2514" y="1176"/>
                </a:lnTo>
                <a:lnTo>
                  <a:pt x="2470" y="1136"/>
                </a:lnTo>
                <a:lnTo>
                  <a:pt x="2446" y="1115"/>
                </a:lnTo>
                <a:lnTo>
                  <a:pt x="2420" y="1092"/>
                </a:lnTo>
                <a:lnTo>
                  <a:pt x="2393" y="1069"/>
                </a:lnTo>
                <a:lnTo>
                  <a:pt x="2363" y="1044"/>
                </a:lnTo>
                <a:lnTo>
                  <a:pt x="2331" y="1018"/>
                </a:lnTo>
                <a:lnTo>
                  <a:pt x="2297" y="990"/>
                </a:lnTo>
                <a:lnTo>
                  <a:pt x="2226" y="933"/>
                </a:lnTo>
                <a:lnTo>
                  <a:pt x="2150" y="874"/>
                </a:lnTo>
                <a:lnTo>
                  <a:pt x="2073" y="815"/>
                </a:lnTo>
                <a:lnTo>
                  <a:pt x="1995" y="757"/>
                </a:lnTo>
                <a:lnTo>
                  <a:pt x="1919" y="702"/>
                </a:lnTo>
                <a:lnTo>
                  <a:pt x="1847" y="651"/>
                </a:lnTo>
                <a:lnTo>
                  <a:pt x="1706" y="556"/>
                </a:lnTo>
                <a:lnTo>
                  <a:pt x="1635" y="511"/>
                </a:lnTo>
                <a:lnTo>
                  <a:pt x="1565" y="467"/>
                </a:lnTo>
                <a:lnTo>
                  <a:pt x="1496" y="426"/>
                </a:lnTo>
                <a:lnTo>
                  <a:pt x="1429" y="387"/>
                </a:lnTo>
                <a:lnTo>
                  <a:pt x="1363" y="351"/>
                </a:lnTo>
                <a:lnTo>
                  <a:pt x="1300" y="318"/>
                </a:lnTo>
                <a:lnTo>
                  <a:pt x="1239" y="289"/>
                </a:lnTo>
                <a:lnTo>
                  <a:pt x="1179" y="263"/>
                </a:lnTo>
                <a:lnTo>
                  <a:pt x="1122" y="240"/>
                </a:lnTo>
                <a:lnTo>
                  <a:pt x="1065" y="220"/>
                </a:lnTo>
                <a:lnTo>
                  <a:pt x="1011" y="201"/>
                </a:lnTo>
                <a:lnTo>
                  <a:pt x="957" y="185"/>
                </a:lnTo>
                <a:lnTo>
                  <a:pt x="852" y="155"/>
                </a:lnTo>
                <a:lnTo>
                  <a:pt x="801" y="143"/>
                </a:lnTo>
                <a:lnTo>
                  <a:pt x="751" y="132"/>
                </a:lnTo>
                <a:lnTo>
                  <a:pt x="701" y="123"/>
                </a:lnTo>
                <a:lnTo>
                  <a:pt x="653" y="116"/>
                </a:lnTo>
                <a:lnTo>
                  <a:pt x="606" y="110"/>
                </a:lnTo>
                <a:lnTo>
                  <a:pt x="561" y="105"/>
                </a:lnTo>
                <a:lnTo>
                  <a:pt x="518" y="100"/>
                </a:lnTo>
                <a:lnTo>
                  <a:pt x="477" y="95"/>
                </a:lnTo>
                <a:lnTo>
                  <a:pt x="440" y="91"/>
                </a:lnTo>
                <a:lnTo>
                  <a:pt x="406" y="88"/>
                </a:lnTo>
                <a:lnTo>
                  <a:pt x="373" y="87"/>
                </a:lnTo>
                <a:lnTo>
                  <a:pt x="343" y="86"/>
                </a:lnTo>
                <a:lnTo>
                  <a:pt x="285" y="83"/>
                </a:lnTo>
                <a:lnTo>
                  <a:pt x="255" y="81"/>
                </a:lnTo>
                <a:lnTo>
                  <a:pt x="226" y="77"/>
                </a:lnTo>
                <a:lnTo>
                  <a:pt x="167" y="65"/>
                </a:lnTo>
                <a:lnTo>
                  <a:pt x="110" y="50"/>
                </a:lnTo>
                <a:lnTo>
                  <a:pt x="55" y="33"/>
                </a:lnTo>
                <a:lnTo>
                  <a:pt x="0" y="16"/>
                </a:lnTo>
                <a:lnTo>
                  <a:pt x="5" y="0"/>
                </a:lnTo>
                <a:close/>
              </a:path>
            </a:pathLst>
          </a:custGeom>
          <a:solidFill>
            <a:srgbClr val="385D8A"/>
          </a:solidFill>
          <a:ln w="0" cap="flat">
            <a:solidFill>
              <a:srgbClr val="385D8A"/>
            </a:solidFill>
            <a:prstDash val="solid"/>
            <a:round/>
            <a:headEnd/>
            <a:tailEnd/>
          </a:ln>
        </p:spPr>
        <p:txBody>
          <a:bodyPr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ca-ES" dirty="0"/>
          </a:p>
        </p:txBody>
      </p:sp>
      <p:sp>
        <p:nvSpPr>
          <p:cNvPr id="27" name="Rectangle 32">
            <a:extLst>
              <a:ext uri="{FF2B5EF4-FFF2-40B4-BE49-F238E27FC236}">
                <a16:creationId xmlns:a16="http://schemas.microsoft.com/office/drawing/2014/main" id="{4B19D4C7-B081-4C0A-9E1C-85D0538B4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22" y="2084723"/>
            <a:ext cx="2794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s-ES" altLang="es-ES" sz="1900" b="1" dirty="0">
                <a:solidFill>
                  <a:srgbClr val="000000"/>
                </a:solidFill>
                <a:latin typeface="Calibri" panose="020F0502020204030204" pitchFamily="34" charset="0"/>
              </a:rPr>
              <a:t>H</a:t>
            </a:r>
            <a:endParaRPr lang="es-ES" altLang="es-ES" dirty="0"/>
          </a:p>
        </p:txBody>
      </p:sp>
      <p:sp>
        <p:nvSpPr>
          <p:cNvPr id="28" name="Rectangle 34">
            <a:extLst>
              <a:ext uri="{FF2B5EF4-FFF2-40B4-BE49-F238E27FC236}">
                <a16:creationId xmlns:a16="http://schemas.microsoft.com/office/drawing/2014/main" id="{4F5BCEF5-52DC-4E0C-8D52-78CD73B2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147" y="2662573"/>
            <a:ext cx="21486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ca-ES" alt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Punt</a:t>
            </a:r>
            <a:r>
              <a:rPr lang="es-ES_tradnl" alt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 de </a:t>
            </a:r>
            <a:r>
              <a:rPr lang="ca-ES" alt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funcionament</a:t>
            </a:r>
            <a:endParaRPr lang="ca-ES" altLang="es-ES" sz="1800" dirty="0"/>
          </a:p>
        </p:txBody>
      </p:sp>
      <p:sp>
        <p:nvSpPr>
          <p:cNvPr id="29" name="38 Forma libre">
            <a:extLst>
              <a:ext uri="{FF2B5EF4-FFF2-40B4-BE49-F238E27FC236}">
                <a16:creationId xmlns:a16="http://schemas.microsoft.com/office/drawing/2014/main" id="{2EDDA306-F5F6-47FE-B0D6-BD924FFA6303}"/>
              </a:ext>
            </a:extLst>
          </p:cNvPr>
          <p:cNvSpPr/>
          <p:nvPr/>
        </p:nvSpPr>
        <p:spPr>
          <a:xfrm>
            <a:off x="1008222" y="3580148"/>
            <a:ext cx="3181350" cy="1042987"/>
          </a:xfrm>
          <a:custGeom>
            <a:avLst/>
            <a:gdLst>
              <a:gd name="connsiteX0" fmla="*/ 0 w 3181081"/>
              <a:gd name="connsiteY0" fmla="*/ 1043188 h 1043188"/>
              <a:gd name="connsiteX1" fmla="*/ 1197735 w 3181081"/>
              <a:gd name="connsiteY1" fmla="*/ 953036 h 1043188"/>
              <a:gd name="connsiteX2" fmla="*/ 2112135 w 3181081"/>
              <a:gd name="connsiteY2" fmla="*/ 708338 h 1043188"/>
              <a:gd name="connsiteX3" fmla="*/ 2987898 w 3181081"/>
              <a:gd name="connsiteY3" fmla="*/ 167425 h 1043188"/>
              <a:gd name="connsiteX4" fmla="*/ 3181081 w 3181081"/>
              <a:gd name="connsiteY4" fmla="*/ 0 h 1043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1081" h="1043188">
                <a:moveTo>
                  <a:pt x="0" y="1043188"/>
                </a:moveTo>
                <a:cubicBezTo>
                  <a:pt x="422856" y="1026016"/>
                  <a:pt x="845713" y="1008844"/>
                  <a:pt x="1197735" y="953036"/>
                </a:cubicBezTo>
                <a:cubicBezTo>
                  <a:pt x="1549757" y="897228"/>
                  <a:pt x="1813775" y="839273"/>
                  <a:pt x="2112135" y="708338"/>
                </a:cubicBezTo>
                <a:cubicBezTo>
                  <a:pt x="2410495" y="577403"/>
                  <a:pt x="2809740" y="285481"/>
                  <a:pt x="2987898" y="167425"/>
                </a:cubicBezTo>
                <a:cubicBezTo>
                  <a:pt x="3166056" y="49369"/>
                  <a:pt x="3173568" y="24684"/>
                  <a:pt x="318108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s-ES" dirty="0"/>
          </a:p>
        </p:txBody>
      </p:sp>
      <p:cxnSp>
        <p:nvCxnSpPr>
          <p:cNvPr id="30" name="40 Conector recto de flecha">
            <a:extLst>
              <a:ext uri="{FF2B5EF4-FFF2-40B4-BE49-F238E27FC236}">
                <a16:creationId xmlns:a16="http://schemas.microsoft.com/office/drawing/2014/main" id="{9DA61BC4-9199-4FEF-BB33-09B9B415CF37}"/>
              </a:ext>
            </a:extLst>
          </p:cNvPr>
          <p:cNvCxnSpPr/>
          <p:nvPr/>
        </p:nvCxnSpPr>
        <p:spPr>
          <a:xfrm>
            <a:off x="3513297" y="4102435"/>
            <a:ext cx="0" cy="1398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43 Conector recto de flecha">
            <a:extLst>
              <a:ext uri="{FF2B5EF4-FFF2-40B4-BE49-F238E27FC236}">
                <a16:creationId xmlns:a16="http://schemas.microsoft.com/office/drawing/2014/main" id="{2086A144-DB3C-4668-9740-FDC44C7DA0AE}"/>
              </a:ext>
            </a:extLst>
          </p:cNvPr>
          <p:cNvCxnSpPr/>
          <p:nvPr/>
        </p:nvCxnSpPr>
        <p:spPr>
          <a:xfrm flipH="1">
            <a:off x="1008222" y="4084973"/>
            <a:ext cx="250983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8">
            <a:extLst>
              <a:ext uri="{FF2B5EF4-FFF2-40B4-BE49-F238E27FC236}">
                <a16:creationId xmlns:a16="http://schemas.microsoft.com/office/drawing/2014/main" id="{A78D01FB-6758-4E03-8161-C5974C3C5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4" y="3930985"/>
            <a:ext cx="3746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s-ES_tradnl" altLang="es-ES" sz="2000" i="1" dirty="0">
                <a:solidFill>
                  <a:srgbClr val="000000"/>
                </a:solidFill>
                <a:latin typeface="Calibri" panose="020F0502020204030204" pitchFamily="34" charset="0"/>
              </a:rPr>
              <a:t>H</a:t>
            </a:r>
            <a:endParaRPr lang="es-ES" altLang="es-ES" sz="20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8">
                <a:extLst>
                  <a:ext uri="{FF2B5EF4-FFF2-40B4-BE49-F238E27FC236}">
                    <a16:creationId xmlns:a16="http://schemas.microsoft.com/office/drawing/2014/main" id="{92503924-67D6-43D8-9E10-CCCE0C7B45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847" y="4441225"/>
                <a:ext cx="936625" cy="300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defPPr>
                  <a:defRPr lang="es-E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0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s-ES" altLang="es-ES" sz="2000" baseline="-25000" dirty="0"/>
              </a:p>
            </p:txBody>
          </p:sp>
        </mc:Choice>
        <mc:Fallback xmlns="">
          <p:sp>
            <p:nvSpPr>
              <p:cNvPr id="33" name="Rectangle 38">
                <a:extLst>
                  <a:ext uri="{FF2B5EF4-FFF2-40B4-BE49-F238E27FC236}">
                    <a16:creationId xmlns:a16="http://schemas.microsoft.com/office/drawing/2014/main" id="{92503924-67D6-43D8-9E10-CCCE0C7B4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847" y="4441225"/>
                <a:ext cx="936625" cy="300660"/>
              </a:xfrm>
              <a:prstGeom prst="rect">
                <a:avLst/>
              </a:prstGeom>
              <a:blipFill>
                <a:blip r:embed="rId4"/>
                <a:stretch>
                  <a:fillRect b="-163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44 Elipse">
            <a:extLst>
              <a:ext uri="{FF2B5EF4-FFF2-40B4-BE49-F238E27FC236}">
                <a16:creationId xmlns:a16="http://schemas.microsoft.com/office/drawing/2014/main" id="{3CB9E8FC-E078-4BB1-B8FA-3C165E1C2A88}"/>
              </a:ext>
            </a:extLst>
          </p:cNvPr>
          <p:cNvSpPr/>
          <p:nvPr/>
        </p:nvSpPr>
        <p:spPr>
          <a:xfrm>
            <a:off x="3337084" y="3909554"/>
            <a:ext cx="352425" cy="350837"/>
          </a:xfrm>
          <a:prstGeom prst="ellipse">
            <a:avLst/>
          </a:prstGeom>
          <a:noFill/>
          <a:ln w="31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s-ES" dirty="0"/>
          </a:p>
        </p:txBody>
      </p:sp>
      <p:cxnSp>
        <p:nvCxnSpPr>
          <p:cNvPr id="35" name="50 Conector recto de flecha">
            <a:extLst>
              <a:ext uri="{FF2B5EF4-FFF2-40B4-BE49-F238E27FC236}">
                <a16:creationId xmlns:a16="http://schemas.microsoft.com/office/drawing/2014/main" id="{DFDF3A97-79E7-422B-997B-60330706226E}"/>
              </a:ext>
            </a:extLst>
          </p:cNvPr>
          <p:cNvCxnSpPr>
            <a:endCxn id="34" idx="0"/>
          </p:cNvCxnSpPr>
          <p:nvPr/>
        </p:nvCxnSpPr>
        <p:spPr>
          <a:xfrm flipH="1">
            <a:off x="3513297" y="2961816"/>
            <a:ext cx="144462" cy="9477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0FD72592-2BC4-4B0C-85CF-AAEFE12E39E9}"/>
                  </a:ext>
                </a:extLst>
              </p:cNvPr>
              <p:cNvSpPr txBox="1"/>
              <p:nvPr/>
            </p:nvSpPr>
            <p:spPr>
              <a:xfrm>
                <a:off x="4015931" y="3191852"/>
                <a:ext cx="1551888" cy="2154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𝑆𝑖𝑠𝑡𝑒𝑚𝑎</m:t>
                        </m:r>
                      </m:sub>
                    </m:sSub>
                  </m:oMath>
                </a14:m>
                <a:r>
                  <a:rPr lang="ca-ES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0FD72592-2BC4-4B0C-85CF-AAEFE12E3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931" y="3191852"/>
                <a:ext cx="1551888" cy="215444"/>
              </a:xfrm>
              <a:prstGeom prst="rect">
                <a:avLst/>
              </a:prstGeom>
              <a:blipFill>
                <a:blip r:embed="rId5"/>
                <a:stretch>
                  <a:fillRect l="-3516" t="-24324" b="-459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4">
            <a:extLst>
              <a:ext uri="{FF2B5EF4-FFF2-40B4-BE49-F238E27FC236}">
                <a16:creationId xmlns:a16="http://schemas.microsoft.com/office/drawing/2014/main" id="{F59736D4-7329-4BFA-A423-17A644CA4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036" y="4648841"/>
            <a:ext cx="7302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s-ES_tradnl" alt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Sistema</a:t>
            </a:r>
            <a:endParaRPr lang="es-ES" altLang="es-ES" sz="1800" dirty="0"/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FF8E77A3-C3CC-4EAB-8057-F847FAED8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546" y="3151784"/>
            <a:ext cx="6635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s-ES_tradnl" alt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Bomba</a:t>
            </a:r>
            <a:endParaRPr lang="es-ES" altLang="es-E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1697B48D-6F99-454A-952E-C773B5BDD368}"/>
                  </a:ext>
                </a:extLst>
              </p:cNvPr>
              <p:cNvSpPr txBox="1"/>
              <p:nvPr/>
            </p:nvSpPr>
            <p:spPr>
              <a:xfrm>
                <a:off x="5756584" y="3804622"/>
                <a:ext cx="2119843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𝐵𝑜𝑚𝑏𝑎</m:t>
                        </m:r>
                      </m:sub>
                    </m:sSub>
                  </m:oMath>
                </a14:m>
                <a:r>
                  <a:rPr lang="ca-ES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1697B48D-6F99-454A-952E-C773B5BDD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584" y="3804622"/>
                <a:ext cx="2119843" cy="276999"/>
              </a:xfrm>
              <a:prstGeom prst="rect">
                <a:avLst/>
              </a:prstGeom>
              <a:blipFill>
                <a:blip r:embed="rId6"/>
                <a:stretch>
                  <a:fillRect l="-2571" t="-16667" b="-125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8666FF78-F1D2-4FF1-88B7-D4AAEAF29AA3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4265465" y="4400733"/>
            <a:ext cx="611136" cy="190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B42B7B05-A9FC-4C6B-95AC-F780E155DCCC}"/>
                  </a:ext>
                </a:extLst>
              </p:cNvPr>
              <p:cNvSpPr txBox="1"/>
              <p:nvPr/>
            </p:nvSpPr>
            <p:spPr>
              <a:xfrm>
                <a:off x="4306682" y="3948982"/>
                <a:ext cx="6098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𝐵𝑜𝑚𝑏𝑎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B42B7B05-A9FC-4C6B-95AC-F780E155D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682" y="3948982"/>
                <a:ext cx="609834" cy="369332"/>
              </a:xfrm>
              <a:prstGeom prst="rect">
                <a:avLst/>
              </a:prstGeom>
              <a:blipFill>
                <a:blip r:embed="rId7"/>
                <a:stretch>
                  <a:fillRect r="-12871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1A19C3D-84EF-4875-9384-CC0D16DED5F0}"/>
                  </a:ext>
                </a:extLst>
              </p:cNvPr>
              <p:cNvSpPr txBox="1"/>
              <p:nvPr/>
            </p:nvSpPr>
            <p:spPr>
              <a:xfrm>
                <a:off x="5739561" y="4260391"/>
                <a:ext cx="2703207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𝐵𝑜𝑚𝑏𝑎</m:t>
                        </m:r>
                      </m:sub>
                    </m:sSub>
                  </m:oMath>
                </a14:m>
                <a:r>
                  <a:rPr lang="ca-ES" dirty="0"/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𝑏𝑄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1A19C3D-84EF-4875-9384-CC0D16DED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561" y="4260391"/>
                <a:ext cx="2703207" cy="276999"/>
              </a:xfrm>
              <a:prstGeom prst="rect">
                <a:avLst/>
              </a:prstGeom>
              <a:blipFill>
                <a:blip r:embed="rId8"/>
                <a:stretch>
                  <a:fillRect l="-2022" t="-17021" b="-148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B7567AB5-FEA8-4076-B782-295B06EC87B4}"/>
                  </a:ext>
                </a:extLst>
              </p:cNvPr>
              <p:cNvSpPr txBox="1"/>
              <p:nvPr/>
            </p:nvSpPr>
            <p:spPr>
              <a:xfrm>
                <a:off x="5739123" y="4735407"/>
                <a:ext cx="2931443" cy="2769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𝐵𝑜𝑚𝑏𝑎</m:t>
                        </m:r>
                      </m:sub>
                    </m:sSub>
                  </m:oMath>
                </a14:m>
                <a:r>
                  <a:rPr lang="ca-ES" dirty="0"/>
                  <a:t> (informació gràfica)</a:t>
                </a: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B7567AB5-FEA8-4076-B782-295B06EC8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123" y="4735407"/>
                <a:ext cx="2931443" cy="276999"/>
              </a:xfrm>
              <a:prstGeom prst="rect">
                <a:avLst/>
              </a:prstGeom>
              <a:blipFill>
                <a:blip r:embed="rId9"/>
                <a:stretch>
                  <a:fillRect l="-1863" t="-17021" b="-148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errar llave 43">
            <a:extLst>
              <a:ext uri="{FF2B5EF4-FFF2-40B4-BE49-F238E27FC236}">
                <a16:creationId xmlns:a16="http://schemas.microsoft.com/office/drawing/2014/main" id="{0E36D1D7-3031-4320-8887-3534299F5C2A}"/>
              </a:ext>
            </a:extLst>
          </p:cNvPr>
          <p:cNvSpPr/>
          <p:nvPr/>
        </p:nvSpPr>
        <p:spPr>
          <a:xfrm flipH="1">
            <a:off x="4876601" y="3721131"/>
            <a:ext cx="1156118" cy="1359203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C7E4EBA-FDFA-43CA-AF41-6146967B8454}"/>
              </a:ext>
            </a:extLst>
          </p:cNvPr>
          <p:cNvSpPr txBox="1"/>
          <p:nvPr/>
        </p:nvSpPr>
        <p:spPr>
          <a:xfrm>
            <a:off x="8499008" y="3829000"/>
            <a:ext cx="1162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Aproximacions</a:t>
            </a:r>
            <a:r>
              <a:rPr lang="en-US" sz="1200" dirty="0"/>
              <a:t> </a:t>
            </a:r>
            <a:r>
              <a:rPr lang="en-US" sz="1200" dirty="0" err="1"/>
              <a:t>polinòmiques</a:t>
            </a:r>
            <a:endParaRPr lang="en-US" sz="1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66D41EB-F92B-4DD3-8C5B-1525D22A306B}"/>
              </a:ext>
            </a:extLst>
          </p:cNvPr>
          <p:cNvSpPr txBox="1"/>
          <p:nvPr/>
        </p:nvSpPr>
        <p:spPr>
          <a:xfrm>
            <a:off x="250521" y="1077238"/>
            <a:ext cx="10853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b="1"/>
              <a:t>Punt de funcionament: </a:t>
            </a:r>
            <a:r>
              <a:rPr lang="ca-ES"/>
              <a:t>El punt on una bomba (definida per la seva corba) treballarà en un circuit hidràulic determinat.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186A06-0066-4121-ACD0-E633A9D468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0438" y="1665537"/>
            <a:ext cx="3473885" cy="164646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3E459A2-BE4C-4820-8EEC-3CB69DF5B93E}"/>
              </a:ext>
            </a:extLst>
          </p:cNvPr>
          <p:cNvCxnSpPr>
            <a:cxnSpLocks/>
            <a:stCxn id="36" idx="3"/>
            <a:endCxn id="4" idx="1"/>
          </p:cNvCxnSpPr>
          <p:nvPr/>
        </p:nvCxnSpPr>
        <p:spPr>
          <a:xfrm flipV="1">
            <a:off x="5567819" y="2488770"/>
            <a:ext cx="2062619" cy="810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FF5EC39-83C4-4A73-881D-4C30A173DD39}"/>
              </a:ext>
            </a:extLst>
          </p:cNvPr>
          <p:cNvSpPr txBox="1"/>
          <p:nvPr/>
        </p:nvSpPr>
        <p:spPr>
          <a:xfrm>
            <a:off x="350847" y="5806906"/>
            <a:ext cx="10853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b="1"/>
              <a:t>Regulació: </a:t>
            </a:r>
            <a:r>
              <a:rPr lang="ca-ES"/>
              <a:t>Opcions disponibles per canviar aquest punt de funcionament</a:t>
            </a:r>
          </a:p>
        </p:txBody>
      </p:sp>
    </p:spTree>
    <p:extLst>
      <p:ext uri="{BB962C8B-B14F-4D97-AF65-F5344CB8AC3E}">
        <p14:creationId xmlns:p14="http://schemas.microsoft.com/office/powerpoint/2010/main" val="372168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3678" y="877824"/>
            <a:ext cx="11211014" cy="296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3.1.1 VARIACIÓ CORBA RESISTENT DEL CIRCUIT.</a:t>
            </a:r>
          </a:p>
          <a:p>
            <a:pPr lvl="0"/>
            <a:endParaRPr lang="es-ES" sz="2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3.1.1.1 ESTRANGULAMENT AMB VÀLVULES EN SERIE</a:t>
            </a:r>
          </a:p>
          <a:p>
            <a:pPr lvl="0"/>
            <a:endParaRPr lang="es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Introdueix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una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pèrdua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càrrega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adicional (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hv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). </a:t>
            </a:r>
          </a:p>
          <a:p>
            <a:pPr lvl="0"/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L'energia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hidràulica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generada per la bomba entre el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punt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 consigna i la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corba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original es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dissipa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totalment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</a:p>
          <a:p>
            <a:pPr lvl="0"/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" name="Picture 5" descr="\\Fluids19\CARME\mh0304\regulacio bombes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314" y="3275242"/>
            <a:ext cx="3398765" cy="178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21"/>
          <p:cNvGrpSpPr>
            <a:grpSpLocks/>
          </p:cNvGrpSpPr>
          <p:nvPr/>
        </p:nvGrpSpPr>
        <p:grpSpPr bwMode="auto">
          <a:xfrm>
            <a:off x="4737185" y="3300755"/>
            <a:ext cx="1981200" cy="876300"/>
            <a:chOff x="3840" y="2568"/>
            <a:chExt cx="1248" cy="552"/>
          </a:xfrm>
        </p:grpSpPr>
        <p:sp>
          <p:nvSpPr>
            <p:cNvPr id="12" name="Line 6"/>
            <p:cNvSpPr>
              <a:spLocks noChangeShapeType="1"/>
            </p:cNvSpPr>
            <p:nvPr/>
          </p:nvSpPr>
          <p:spPr bwMode="auto">
            <a:xfrm>
              <a:off x="3840" y="297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a-ES"/>
            </a:p>
          </p:txBody>
        </p:sp>
        <p:sp>
          <p:nvSpPr>
            <p:cNvPr id="14" name="Oval 7"/>
            <p:cNvSpPr>
              <a:spLocks noChangeArrowheads="1"/>
            </p:cNvSpPr>
            <p:nvPr/>
          </p:nvSpPr>
          <p:spPr bwMode="auto">
            <a:xfrm>
              <a:off x="4368" y="2832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4656" y="29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a-ES"/>
            </a:p>
          </p:txBody>
        </p:sp>
        <p:sp>
          <p:nvSpPr>
            <p:cNvPr id="17" name="AutoShape 9"/>
            <p:cNvSpPr>
              <a:spLocks noChangeArrowheads="1"/>
            </p:cNvSpPr>
            <p:nvPr/>
          </p:nvSpPr>
          <p:spPr bwMode="auto">
            <a:xfrm>
              <a:off x="4896" y="2904"/>
              <a:ext cx="48" cy="144"/>
            </a:xfrm>
            <a:prstGeom prst="flowChartCollat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18" name="AutoShape 10"/>
            <p:cNvSpPr>
              <a:spLocks noChangeArrowheads="1"/>
            </p:cNvSpPr>
            <p:nvPr/>
          </p:nvSpPr>
          <p:spPr bwMode="auto">
            <a:xfrm rot="5400000">
              <a:off x="4512" y="2928"/>
              <a:ext cx="96" cy="96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4704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a-ES"/>
            </a:p>
          </p:txBody>
        </p:sp>
        <p:grpSp>
          <p:nvGrpSpPr>
            <p:cNvPr id="20" name="Group 19"/>
            <p:cNvGrpSpPr>
              <a:grpSpLocks/>
            </p:cNvGrpSpPr>
            <p:nvPr/>
          </p:nvGrpSpPr>
          <p:grpSpPr bwMode="auto">
            <a:xfrm>
              <a:off x="3936" y="2568"/>
              <a:ext cx="336" cy="312"/>
              <a:chOff x="3936" y="2592"/>
              <a:chExt cx="336" cy="312"/>
            </a:xfrm>
          </p:grpSpPr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3936" y="290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ca-ES"/>
              </a:p>
            </p:txBody>
          </p:sp>
          <p:sp>
            <p:nvSpPr>
              <p:cNvPr id="22" name="Text Box 18"/>
              <p:cNvSpPr txBox="1">
                <a:spLocks noChangeArrowheads="1"/>
              </p:cNvSpPr>
              <p:nvPr/>
            </p:nvSpPr>
            <p:spPr bwMode="auto">
              <a:xfrm>
                <a:off x="3936" y="2592"/>
                <a:ext cx="33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s-ES" altLang="es-ES" dirty="0"/>
                  <a:t>Q</a:t>
                </a:r>
                <a:r>
                  <a:rPr lang="es-ES" altLang="es-ES" baseline="-25000" dirty="0"/>
                  <a:t>2</a:t>
                </a:r>
                <a:endParaRPr lang="es-ES" altLang="es-ES" sz="1600" baseline="-25000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38566" y="3620462"/>
                <a:ext cx="399861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𝑠𝑖𝑠𝑡𝑒𝑚𝑎</m:t>
                        </m:r>
                      </m:sub>
                    </m:sSub>
                  </m:oMath>
                </a14:m>
                <a:r>
                  <a:rPr lang="ca-ES" sz="20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sz="2000" i="1">
                        <a:latin typeface="Cambria Math" panose="02040503050406030204" pitchFamily="18" charset="0"/>
                      </a:rPr>
                      <m:t>+(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E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s-ES" sz="200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ca-ES" sz="200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66" y="3620462"/>
                <a:ext cx="3998619" cy="400110"/>
              </a:xfrm>
              <a:prstGeom prst="rect">
                <a:avLst/>
              </a:prstGeom>
              <a:blipFill>
                <a:blip r:embed="rId5"/>
                <a:stretch>
                  <a:fillRect t="-7576" b="-2727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Google Shape;115;p3"/>
          <p:cNvSpPr txBox="1"/>
          <p:nvPr/>
        </p:nvSpPr>
        <p:spPr>
          <a:xfrm>
            <a:off x="343679" y="4978980"/>
            <a:ext cx="6522635" cy="173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ca-ES" sz="105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 algn="just"/>
            <a:r>
              <a:rPr lang="ca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s’utilitza en bombes axials doncs la potencia consumida  i els problemas d'inestabilitat augmenten al disminuir el cabal.</a:t>
            </a:r>
          </a:p>
          <a:p>
            <a:pPr lvl="0"/>
            <a:endParaRPr lang="ca-ES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8163397D-5180-4D29-95AF-907BBD773D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512" y="5091416"/>
            <a:ext cx="1207948" cy="163189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23E3E5C-4B15-4A1A-B6CA-CC1BA1944FF8}"/>
              </a:ext>
            </a:extLst>
          </p:cNvPr>
          <p:cNvSpPr txBox="1"/>
          <p:nvPr/>
        </p:nvSpPr>
        <p:spPr>
          <a:xfrm>
            <a:off x="9851721" y="5719878"/>
            <a:ext cx="2269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(Recordatori bomba axial)</a:t>
            </a:r>
          </a:p>
        </p:txBody>
      </p:sp>
    </p:spTree>
    <p:extLst>
      <p:ext uri="{BB962C8B-B14F-4D97-AF65-F5344CB8AC3E}">
        <p14:creationId xmlns:p14="http://schemas.microsoft.com/office/powerpoint/2010/main" val="131515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3678" y="877824"/>
            <a:ext cx="11211014" cy="2100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3.1.1.2 VÀLVULA EN PARAL·LEL (BY-PASS)</a:t>
            </a:r>
          </a:p>
          <a:p>
            <a:pPr lvl="0"/>
            <a:endParaRPr lang="es-ES" sz="105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 del cabal impulsat per la bomba retorna cap a l'aspiració a través de la vàlvula</a:t>
            </a:r>
          </a:p>
          <a:p>
            <a:pPr lvl="0" algn="just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L'energia hidràulica generada per la bomba entre el punt de consigna i la corba original es dissipa totalment.</a:t>
            </a:r>
          </a:p>
          <a:p>
            <a:pPr lvl="0"/>
            <a:endParaRPr lang="es-ES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" name="Google Shape;115;p3"/>
          <p:cNvSpPr txBox="1"/>
          <p:nvPr/>
        </p:nvSpPr>
        <p:spPr>
          <a:xfrm>
            <a:off x="412001" y="3632422"/>
            <a:ext cx="6522635" cy="246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es-ES" sz="105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 cabal del circuit disminuirà.</a:t>
            </a:r>
          </a:p>
          <a:p>
            <a:pPr lvl="0" algn="just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Adequat per a bombes axials (la potencia disminueix a l'augmentar el cabal)</a:t>
            </a:r>
          </a:p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Útil per evitar fenòmens d’inestabilitat, doncs el cabal de la bomba augmentarà.</a:t>
            </a:r>
          </a:p>
          <a:p>
            <a:pPr lvl="0"/>
            <a:endParaRPr lang="es-ES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4" name="Picture 5" descr="\\Fluids19\CARME\mh0304\regulacio bombes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853" y="2211186"/>
            <a:ext cx="5510769" cy="3043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3" name="Group 42"/>
          <p:cNvGrpSpPr/>
          <p:nvPr/>
        </p:nvGrpSpPr>
        <p:grpSpPr>
          <a:xfrm>
            <a:off x="8755579" y="5221064"/>
            <a:ext cx="2522295" cy="1500411"/>
            <a:chOff x="5622124" y="2070413"/>
            <a:chExt cx="2522295" cy="1500411"/>
          </a:xfrm>
        </p:grpSpPr>
        <p:grpSp>
          <p:nvGrpSpPr>
            <p:cNvPr id="44" name="24 Grupo"/>
            <p:cNvGrpSpPr>
              <a:grpSpLocks/>
            </p:cNvGrpSpPr>
            <p:nvPr/>
          </p:nvGrpSpPr>
          <p:grpSpPr bwMode="auto">
            <a:xfrm>
              <a:off x="5622124" y="2070413"/>
              <a:ext cx="2005226" cy="1500411"/>
              <a:chOff x="6197600" y="3165435"/>
              <a:chExt cx="2622872" cy="2199696"/>
            </a:xfrm>
          </p:grpSpPr>
          <p:sp>
            <p:nvSpPr>
              <p:cNvPr id="51" name="Text Box 25"/>
              <p:cNvSpPr txBox="1">
                <a:spLocks noChangeArrowheads="1"/>
              </p:cNvSpPr>
              <p:nvPr/>
            </p:nvSpPr>
            <p:spPr bwMode="auto">
              <a:xfrm>
                <a:off x="6590930" y="3165435"/>
                <a:ext cx="1858144" cy="21996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s-ES" altLang="es-ES" sz="1800" dirty="0"/>
                  <a:t>Bomba</a:t>
                </a:r>
              </a:p>
              <a:p>
                <a:pPr>
                  <a:spcBef>
                    <a:spcPct val="50000"/>
                  </a:spcBef>
                </a:pPr>
                <a:endParaRPr lang="es-ES" altLang="es-ES" sz="2000" dirty="0"/>
              </a:p>
              <a:p>
                <a:pPr>
                  <a:spcBef>
                    <a:spcPct val="50000"/>
                  </a:spcBef>
                </a:pPr>
                <a:endParaRPr lang="es-ES" altLang="es-ES" sz="1100"/>
              </a:p>
              <a:p>
                <a:pPr>
                  <a:spcBef>
                    <a:spcPct val="50000"/>
                  </a:spcBef>
                </a:pPr>
                <a:r>
                  <a:rPr lang="es-ES" altLang="es-ES" sz="1800"/>
                  <a:t>Válvula</a:t>
                </a:r>
                <a:endParaRPr lang="es-ES" altLang="es-ES" sz="1800" dirty="0"/>
              </a:p>
            </p:txBody>
          </p:sp>
          <p:grpSp>
            <p:nvGrpSpPr>
              <p:cNvPr id="52" name="Group 29"/>
              <p:cNvGrpSpPr>
                <a:grpSpLocks/>
              </p:cNvGrpSpPr>
              <p:nvPr/>
            </p:nvGrpSpPr>
            <p:grpSpPr bwMode="auto">
              <a:xfrm>
                <a:off x="6197600" y="3717032"/>
                <a:ext cx="2622872" cy="978349"/>
                <a:chOff x="3936" y="2160"/>
                <a:chExt cx="1392" cy="497"/>
              </a:xfrm>
            </p:grpSpPr>
            <p:sp>
              <p:nvSpPr>
                <p:cNvPr id="53" name="Line 9"/>
                <p:cNvSpPr>
                  <a:spLocks noChangeShapeType="1"/>
                </p:cNvSpPr>
                <p:nvPr/>
              </p:nvSpPr>
              <p:spPr bwMode="auto">
                <a:xfrm>
                  <a:off x="4656" y="2304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ca-ES" dirty="0"/>
                </a:p>
              </p:txBody>
            </p:sp>
            <p:sp>
              <p:nvSpPr>
                <p:cNvPr id="54" name="Line 6"/>
                <p:cNvSpPr>
                  <a:spLocks noChangeShapeType="1"/>
                </p:cNvSpPr>
                <p:nvPr/>
              </p:nvSpPr>
              <p:spPr bwMode="auto">
                <a:xfrm>
                  <a:off x="3936" y="2304"/>
                  <a:ext cx="52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ca-ES" dirty="0"/>
                </a:p>
              </p:txBody>
            </p:sp>
            <p:sp>
              <p:nvSpPr>
                <p:cNvPr id="55" name="Oval 7"/>
                <p:cNvSpPr>
                  <a:spLocks noChangeArrowheads="1"/>
                </p:cNvSpPr>
                <p:nvPr/>
              </p:nvSpPr>
              <p:spPr bwMode="auto">
                <a:xfrm>
                  <a:off x="4416" y="2160"/>
                  <a:ext cx="288" cy="288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s-ES" altLang="es-ES" dirty="0"/>
                </a:p>
              </p:txBody>
            </p:sp>
            <p:sp>
              <p:nvSpPr>
                <p:cNvPr id="56" name="AutoShape 8"/>
                <p:cNvSpPr>
                  <a:spLocks noChangeArrowheads="1"/>
                </p:cNvSpPr>
                <p:nvPr/>
              </p:nvSpPr>
              <p:spPr bwMode="auto">
                <a:xfrm rot="5400000">
                  <a:off x="4536" y="2232"/>
                  <a:ext cx="96" cy="14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s-ES" altLang="es-ES" dirty="0"/>
                </a:p>
              </p:txBody>
            </p:sp>
            <p:sp>
              <p:nvSpPr>
                <p:cNvPr id="57" name="Line 10"/>
                <p:cNvSpPr>
                  <a:spLocks noChangeShapeType="1"/>
                </p:cNvSpPr>
                <p:nvPr/>
              </p:nvSpPr>
              <p:spPr bwMode="auto">
                <a:xfrm>
                  <a:off x="4176" y="230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ca-ES" dirty="0"/>
                </a:p>
              </p:txBody>
            </p:sp>
            <p:sp>
              <p:nvSpPr>
                <p:cNvPr id="58" name="Line 11"/>
                <p:cNvSpPr>
                  <a:spLocks noChangeShapeType="1"/>
                </p:cNvSpPr>
                <p:nvPr/>
              </p:nvSpPr>
              <p:spPr bwMode="auto">
                <a:xfrm>
                  <a:off x="4176" y="2600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ca-ES" dirty="0"/>
                </a:p>
              </p:txBody>
            </p:sp>
            <p:sp>
              <p:nvSpPr>
                <p:cNvPr id="59" name="AutoShape 12"/>
                <p:cNvSpPr>
                  <a:spLocks noChangeArrowheads="1"/>
                </p:cNvSpPr>
                <p:nvPr/>
              </p:nvSpPr>
              <p:spPr bwMode="auto">
                <a:xfrm>
                  <a:off x="4416" y="2544"/>
                  <a:ext cx="91" cy="113"/>
                </a:xfrm>
                <a:prstGeom prst="flowChartCollat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endParaRPr lang="es-ES" altLang="es-ES" dirty="0"/>
                </a:p>
              </p:txBody>
            </p:sp>
            <p:sp>
              <p:nvSpPr>
                <p:cNvPr id="60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896" y="230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ca-ES" dirty="0"/>
                </a:p>
              </p:txBody>
            </p:sp>
          </p:grpSp>
        </p:grpSp>
        <p:cxnSp>
          <p:nvCxnSpPr>
            <p:cNvPr id="45" name="Conector recto de flecha 36"/>
            <p:cNvCxnSpPr/>
            <p:nvPr/>
          </p:nvCxnSpPr>
          <p:spPr bwMode="auto">
            <a:xfrm>
              <a:off x="6728455" y="2575557"/>
              <a:ext cx="27658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6" name="CuadroTexto 37"/>
            <p:cNvSpPr txBox="1"/>
            <p:nvPr/>
          </p:nvSpPr>
          <p:spPr>
            <a:xfrm>
              <a:off x="7187650" y="2168586"/>
              <a:ext cx="9567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sz="2000" dirty="0" err="1"/>
                <a:t>Q</a:t>
              </a:r>
              <a:r>
                <a:rPr lang="ca-ES" sz="2000" baseline="-25000" dirty="0" err="1"/>
                <a:t>circuit</a:t>
              </a:r>
              <a:endParaRPr lang="ca-ES" sz="2000" baseline="-25000" dirty="0"/>
            </a:p>
          </p:txBody>
        </p:sp>
        <p:sp>
          <p:nvSpPr>
            <p:cNvPr id="47" name="CuadroTexto 39"/>
            <p:cNvSpPr txBox="1"/>
            <p:nvPr/>
          </p:nvSpPr>
          <p:spPr>
            <a:xfrm>
              <a:off x="6616944" y="2206290"/>
              <a:ext cx="6822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sz="2000" dirty="0" err="1"/>
                <a:t>Q</a:t>
              </a:r>
              <a:r>
                <a:rPr lang="ca-ES" sz="2000" baseline="-25000" dirty="0" err="1"/>
                <a:t>b</a:t>
              </a:r>
              <a:endParaRPr lang="ca-ES" sz="2000" baseline="-25000" dirty="0"/>
            </a:p>
          </p:txBody>
        </p:sp>
        <p:cxnSp>
          <p:nvCxnSpPr>
            <p:cNvPr id="48" name="Conector recto de flecha 40"/>
            <p:cNvCxnSpPr/>
            <p:nvPr/>
          </p:nvCxnSpPr>
          <p:spPr bwMode="auto">
            <a:xfrm>
              <a:off x="7236296" y="2567660"/>
              <a:ext cx="27658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9" name="CuadroTexto 41"/>
            <p:cNvSpPr txBox="1"/>
            <p:nvPr/>
          </p:nvSpPr>
          <p:spPr>
            <a:xfrm>
              <a:off x="6395758" y="2793834"/>
              <a:ext cx="106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ca-ES" sz="2000" dirty="0" err="1"/>
                <a:t>Q</a:t>
              </a:r>
              <a:r>
                <a:rPr lang="ca-ES" sz="2000" baseline="-25000" dirty="0" err="1"/>
                <a:t>v</a:t>
              </a:r>
              <a:endParaRPr lang="ca-ES" sz="2000" baseline="-25000" dirty="0"/>
            </a:p>
          </p:txBody>
        </p:sp>
        <p:cxnSp>
          <p:nvCxnSpPr>
            <p:cNvPr id="50" name="Conector recto de flecha 42"/>
            <p:cNvCxnSpPr/>
            <p:nvPr/>
          </p:nvCxnSpPr>
          <p:spPr bwMode="auto">
            <a:xfrm flipH="1">
              <a:off x="7056643" y="2693836"/>
              <a:ext cx="773" cy="25780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CuadroTexto 43"/>
              <p:cNvSpPr txBox="1"/>
              <p:nvPr/>
            </p:nvSpPr>
            <p:spPr>
              <a:xfrm>
                <a:off x="649642" y="2823413"/>
                <a:ext cx="56181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𝑐𝑖𝑟𝑐𝑢𝑖𝑡</m:t>
                        </m:r>
                      </m:sub>
                    </m:sSub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ca-ES" sz="2400" dirty="0"/>
                  <a:t>        ;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s-E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400" b="0" i="1" smtClean="0">
                        <a:latin typeface="Cambria Math" panose="02040503050406030204" pitchFamily="18" charset="0"/>
                      </a:rPr>
                      <m:t>𝑘</m:t>
                    </m:r>
                    <m:sSubSup>
                      <m:sSubSupPr>
                        <m:ctrlPr>
                          <a:rPr lang="es-E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ca-ES" sz="2400" dirty="0"/>
              </a:p>
            </p:txBody>
          </p:sp>
        </mc:Choice>
        <mc:Fallback xmlns="">
          <p:sp>
            <p:nvSpPr>
              <p:cNvPr id="61" name="CuadroTexto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42" y="2823413"/>
                <a:ext cx="5618153" cy="461665"/>
              </a:xfrm>
              <a:prstGeom prst="rect">
                <a:avLst/>
              </a:prstGeom>
              <a:blipFill>
                <a:blip r:embed="rId5"/>
                <a:stretch>
                  <a:fillRect l="-760" t="-9211" b="-3026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489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5" descr="D:\dades\Carme\maquines hidràuliques\MH0304\Mh03_04\reg3.jpg">
            <a:extLst>
              <a:ext uri="{FF2B5EF4-FFF2-40B4-BE49-F238E27FC236}">
                <a16:creationId xmlns:a16="http://schemas.microsoft.com/office/drawing/2014/main" id="{88EFF382-38B1-4B3F-BEDC-9EAB5CD300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6" r="7096"/>
          <a:stretch/>
        </p:blipFill>
        <p:spPr bwMode="auto">
          <a:xfrm>
            <a:off x="7045823" y="2865358"/>
            <a:ext cx="4048392" cy="2576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3678" y="877824"/>
            <a:ext cx="11211014" cy="2162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3.1.2 VARIACIÓ CORBA CARACTERÍSTICA DE LA BOMBA.</a:t>
            </a:r>
          </a:p>
          <a:p>
            <a:pPr lvl="0"/>
            <a:endParaRPr lang="es-ES" sz="2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3.1.2.1 VARIACIÓ DE LA VELOCITAT DE LA BOMBA (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vist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en el T1)</a:t>
            </a:r>
          </a:p>
          <a:p>
            <a:pPr lvl="0"/>
            <a:endParaRPr lang="es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La nova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corba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característica de la bomba es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pot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calcular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amb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les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relacions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semblança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vist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en el T1)</a:t>
            </a:r>
          </a:p>
          <a:p>
            <a:pPr lvl="0"/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" name="Google Shape;115;p3"/>
          <p:cNvSpPr txBox="1"/>
          <p:nvPr/>
        </p:nvSpPr>
        <p:spPr>
          <a:xfrm>
            <a:off x="240488" y="3413036"/>
            <a:ext cx="652263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Sistema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òptim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des del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punt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 vista del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rendiment</a:t>
            </a:r>
            <a:endParaRPr lang="es-ES" sz="20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Aplicable a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tot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tipus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de máquina </a:t>
            </a:r>
          </a:p>
          <a:p>
            <a:pPr lvl="0"/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Necessari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un variador de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freqüència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(limitador per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màquines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molt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0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grans</a:t>
            </a:r>
            <a:r>
              <a:rPr lang="es-ES" sz="20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19"/>
              <p:cNvSpPr/>
              <p:nvPr/>
            </p:nvSpPr>
            <p:spPr>
              <a:xfrm>
                <a:off x="2554708" y="2730963"/>
                <a:ext cx="1439011" cy="6127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r>
                        <a:rPr lang="es-E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l-GR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s-E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s-E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ctá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708" y="2730963"/>
                <a:ext cx="1439011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1"/>
              <p:cNvSpPr/>
              <p:nvPr/>
            </p:nvSpPr>
            <p:spPr>
              <a:xfrm>
                <a:off x="4321495" y="2738905"/>
                <a:ext cx="1268488" cy="60907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r>
                        <a:rPr lang="es-E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s-ES" sz="1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l-GR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s-E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s-ES" sz="1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ca-E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ángulo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495" y="2738905"/>
                <a:ext cx="1268488" cy="6090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A09F57C3-B6B4-402D-9556-68A886E53A03}"/>
              </a:ext>
            </a:extLst>
          </p:cNvPr>
          <p:cNvSpPr txBox="1"/>
          <p:nvPr/>
        </p:nvSpPr>
        <p:spPr>
          <a:xfrm>
            <a:off x="9813378" y="4605264"/>
            <a:ext cx="2093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200" i="1" dirty="0"/>
              <a:t>En la figura: n1&gt;n2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83D2E2B-2D87-44ED-9F4F-33132914FBE5}"/>
              </a:ext>
            </a:extLst>
          </p:cNvPr>
          <p:cNvCxnSpPr>
            <a:cxnSpLocks/>
          </p:cNvCxnSpPr>
          <p:nvPr/>
        </p:nvCxnSpPr>
        <p:spPr bwMode="auto">
          <a:xfrm flipV="1">
            <a:off x="9291598" y="3077077"/>
            <a:ext cx="69391" cy="12593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14BF9F8-11D2-4919-BC1C-EDA5A1E3CA8D}"/>
              </a:ext>
            </a:extLst>
          </p:cNvPr>
          <p:cNvCxnSpPr>
            <a:cxnSpLocks/>
            <a:stCxn id="21" idx="4"/>
          </p:cNvCxnSpPr>
          <p:nvPr/>
        </p:nvCxnSpPr>
        <p:spPr bwMode="auto">
          <a:xfrm flipV="1">
            <a:off x="9034015" y="3093905"/>
            <a:ext cx="290970" cy="16844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6450816-A51E-4E48-9D68-722A32AF7E99}"/>
                  </a:ext>
                </a:extLst>
              </p:cNvPr>
              <p:cNvSpPr txBox="1"/>
              <p:nvPr/>
            </p:nvSpPr>
            <p:spPr>
              <a:xfrm>
                <a:off x="7820608" y="2668057"/>
                <a:ext cx="3273607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ca-ES" dirty="0"/>
                  <a:t>Punts homòlegs: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ca-ES" dirty="0"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ca-ES" dirty="0"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56450816-A51E-4E48-9D68-722A32AF7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608" y="2668057"/>
                <a:ext cx="3273607" cy="307777"/>
              </a:xfrm>
              <a:prstGeom prst="rect">
                <a:avLst/>
              </a:prstGeom>
              <a:blipFill>
                <a:blip r:embed="rId6"/>
                <a:stretch>
                  <a:fillRect l="-371" t="-1923" b="-173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ipse 19">
            <a:extLst>
              <a:ext uri="{FF2B5EF4-FFF2-40B4-BE49-F238E27FC236}">
                <a16:creationId xmlns:a16="http://schemas.microsoft.com/office/drawing/2014/main" id="{A087EB2D-382B-4AFD-AF3A-39F5D257F049}"/>
              </a:ext>
            </a:extLst>
          </p:cNvPr>
          <p:cNvSpPr/>
          <p:nvPr/>
        </p:nvSpPr>
        <p:spPr bwMode="auto">
          <a:xfrm>
            <a:off x="7491398" y="5070592"/>
            <a:ext cx="72008" cy="96083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A9E7434-907F-4DFC-BD60-D11F8FD091B3}"/>
              </a:ext>
            </a:extLst>
          </p:cNvPr>
          <p:cNvSpPr/>
          <p:nvPr/>
        </p:nvSpPr>
        <p:spPr bwMode="auto">
          <a:xfrm>
            <a:off x="8998011" y="4682299"/>
            <a:ext cx="72008" cy="96083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302D833C-BE1D-43FD-9FBC-266182CCBDB0}"/>
              </a:ext>
            </a:extLst>
          </p:cNvPr>
          <p:cNvSpPr/>
          <p:nvPr/>
        </p:nvSpPr>
        <p:spPr bwMode="auto">
          <a:xfrm>
            <a:off x="9252977" y="4245505"/>
            <a:ext cx="72008" cy="96083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Forma libre 31">
            <a:extLst>
              <a:ext uri="{FF2B5EF4-FFF2-40B4-BE49-F238E27FC236}">
                <a16:creationId xmlns:a16="http://schemas.microsoft.com/office/drawing/2014/main" id="{55F3E2BA-8DFC-4805-8A7D-F3BCD6F25D60}"/>
              </a:ext>
            </a:extLst>
          </p:cNvPr>
          <p:cNvSpPr/>
          <p:nvPr/>
        </p:nvSpPr>
        <p:spPr bwMode="auto">
          <a:xfrm>
            <a:off x="7522121" y="3056742"/>
            <a:ext cx="2130640" cy="2056354"/>
          </a:xfrm>
          <a:custGeom>
            <a:avLst/>
            <a:gdLst>
              <a:gd name="connsiteX0" fmla="*/ 0 w 2130640"/>
              <a:gd name="connsiteY0" fmla="*/ 2036895 h 2056354"/>
              <a:gd name="connsiteX1" fmla="*/ 272562 w 2130640"/>
              <a:gd name="connsiteY1" fmla="*/ 2036895 h 2056354"/>
              <a:gd name="connsiteX2" fmla="*/ 1178169 w 2130640"/>
              <a:gd name="connsiteY2" fmla="*/ 1834672 h 2056354"/>
              <a:gd name="connsiteX3" fmla="*/ 1696915 w 2130640"/>
              <a:gd name="connsiteY3" fmla="*/ 1439018 h 2056354"/>
              <a:gd name="connsiteX4" fmla="*/ 2092569 w 2130640"/>
              <a:gd name="connsiteY4" fmla="*/ 128964 h 2056354"/>
              <a:gd name="connsiteX5" fmla="*/ 2092569 w 2130640"/>
              <a:gd name="connsiteY5" fmla="*/ 120172 h 2056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0640" h="2056354">
                <a:moveTo>
                  <a:pt x="0" y="2036895"/>
                </a:moveTo>
                <a:cubicBezTo>
                  <a:pt x="38100" y="2053747"/>
                  <a:pt x="76201" y="2070599"/>
                  <a:pt x="272562" y="2036895"/>
                </a:cubicBezTo>
                <a:cubicBezTo>
                  <a:pt x="468923" y="2003191"/>
                  <a:pt x="940777" y="1934318"/>
                  <a:pt x="1178169" y="1834672"/>
                </a:cubicBezTo>
                <a:cubicBezTo>
                  <a:pt x="1415561" y="1735026"/>
                  <a:pt x="1544515" y="1723303"/>
                  <a:pt x="1696915" y="1439018"/>
                </a:cubicBezTo>
                <a:cubicBezTo>
                  <a:pt x="1849315" y="1154733"/>
                  <a:pt x="2092569" y="128964"/>
                  <a:pt x="2092569" y="128964"/>
                </a:cubicBezTo>
                <a:cubicBezTo>
                  <a:pt x="2158511" y="-90844"/>
                  <a:pt x="2125540" y="14664"/>
                  <a:pt x="2092569" y="12017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C1C6420-94BB-4C84-A174-37931DA0E0F2}"/>
              </a:ext>
            </a:extLst>
          </p:cNvPr>
          <p:cNvSpPr/>
          <p:nvPr/>
        </p:nvSpPr>
        <p:spPr>
          <a:xfrm>
            <a:off x="8770736" y="4489193"/>
            <a:ext cx="120769" cy="87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58210D-C36F-4A94-8271-A5A690627B9A}"/>
              </a:ext>
            </a:extLst>
          </p:cNvPr>
          <p:cNvSpPr txBox="1"/>
          <p:nvPr/>
        </p:nvSpPr>
        <p:spPr>
          <a:xfrm>
            <a:off x="254559" y="4680733"/>
            <a:ext cx="6719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000" dirty="0">
                <a:latin typeface="Corbel" panose="020B0503020204020204" pitchFamily="34" charset="0"/>
              </a:rPr>
              <a:t>Si la bomba girava a N1, al girar a N2 generarà un conjunt de punts homòlegs que definiran la corba amb N2</a:t>
            </a:r>
          </a:p>
          <a:p>
            <a:endParaRPr lang="ca-ES" sz="2000" dirty="0">
              <a:latin typeface="Corbel" panose="020B0503020204020204" pitchFamily="34" charset="0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645FB48F-8BB8-4CDB-9EE2-7EB5E7F8EC62}"/>
              </a:ext>
            </a:extLst>
          </p:cNvPr>
          <p:cNvSpPr/>
          <p:nvPr/>
        </p:nvSpPr>
        <p:spPr bwMode="auto">
          <a:xfrm>
            <a:off x="8083881" y="3585494"/>
            <a:ext cx="72008" cy="9608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2106815-4486-4A34-8953-26C6BCAF743B}"/>
              </a:ext>
            </a:extLst>
          </p:cNvPr>
          <p:cNvSpPr/>
          <p:nvPr/>
        </p:nvSpPr>
        <p:spPr bwMode="auto">
          <a:xfrm>
            <a:off x="7948182" y="4007211"/>
            <a:ext cx="72008" cy="9608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34930B26-3553-4A13-B459-CE20D469D7FB}"/>
              </a:ext>
            </a:extLst>
          </p:cNvPr>
          <p:cNvSpPr/>
          <p:nvPr/>
        </p:nvSpPr>
        <p:spPr>
          <a:xfrm>
            <a:off x="7528142" y="3106455"/>
            <a:ext cx="726510" cy="2054268"/>
          </a:xfrm>
          <a:custGeom>
            <a:avLst/>
            <a:gdLst>
              <a:gd name="connsiteX0" fmla="*/ 0 w 726510"/>
              <a:gd name="connsiteY0" fmla="*/ 2054268 h 2054268"/>
              <a:gd name="connsiteX1" fmla="*/ 363255 w 726510"/>
              <a:gd name="connsiteY1" fmla="*/ 1227550 h 2054268"/>
              <a:gd name="connsiteX2" fmla="*/ 726510 w 726510"/>
              <a:gd name="connsiteY2" fmla="*/ 0 h 2054268"/>
              <a:gd name="connsiteX3" fmla="*/ 726510 w 726510"/>
              <a:gd name="connsiteY3" fmla="*/ 0 h 205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6510" h="2054268">
                <a:moveTo>
                  <a:pt x="0" y="2054268"/>
                </a:moveTo>
                <a:cubicBezTo>
                  <a:pt x="121085" y="1812098"/>
                  <a:pt x="242170" y="1569928"/>
                  <a:pt x="363255" y="1227550"/>
                </a:cubicBezTo>
                <a:cubicBezTo>
                  <a:pt x="484340" y="885172"/>
                  <a:pt x="726510" y="0"/>
                  <a:pt x="726510" y="0"/>
                </a:cubicBezTo>
                <a:lnTo>
                  <a:pt x="726510" y="0"/>
                </a:lnTo>
              </a:path>
            </a:pathLst>
          </a:custGeom>
          <a:noFill/>
          <a:ln w="9525">
            <a:solidFill>
              <a:schemeClr val="accent2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938304F-7F31-4B16-B0B7-2526A9B9EE50}"/>
              </a:ext>
            </a:extLst>
          </p:cNvPr>
          <p:cNvCxnSpPr>
            <a:cxnSpLocks/>
            <a:stCxn id="31" idx="6"/>
          </p:cNvCxnSpPr>
          <p:nvPr/>
        </p:nvCxnSpPr>
        <p:spPr bwMode="auto">
          <a:xfrm flipV="1">
            <a:off x="8155889" y="2987043"/>
            <a:ext cx="661018" cy="6464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46E2CD1-1774-4065-BD5C-B311A43A73CC}"/>
              </a:ext>
            </a:extLst>
          </p:cNvPr>
          <p:cNvCxnSpPr>
            <a:cxnSpLocks/>
          </p:cNvCxnSpPr>
          <p:nvPr/>
        </p:nvCxnSpPr>
        <p:spPr bwMode="auto">
          <a:xfrm flipV="1">
            <a:off x="8038133" y="3002771"/>
            <a:ext cx="792987" cy="10044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75433350-3853-410E-9774-2CBCDD29C320}"/>
              </a:ext>
            </a:extLst>
          </p:cNvPr>
          <p:cNvSpPr/>
          <p:nvPr/>
        </p:nvSpPr>
        <p:spPr bwMode="auto">
          <a:xfrm>
            <a:off x="8644793" y="3886900"/>
            <a:ext cx="72008" cy="9608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C2A7157C-FECB-44E5-9144-8BC7FF8C4069}"/>
              </a:ext>
            </a:extLst>
          </p:cNvPr>
          <p:cNvSpPr/>
          <p:nvPr/>
        </p:nvSpPr>
        <p:spPr bwMode="auto">
          <a:xfrm>
            <a:off x="8376878" y="4233673"/>
            <a:ext cx="72008" cy="9608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Forma libre: forma 46">
            <a:extLst>
              <a:ext uri="{FF2B5EF4-FFF2-40B4-BE49-F238E27FC236}">
                <a16:creationId xmlns:a16="http://schemas.microsoft.com/office/drawing/2014/main" id="{F1E7C224-8FD2-4449-AA42-411B9108489C}"/>
              </a:ext>
            </a:extLst>
          </p:cNvPr>
          <p:cNvSpPr/>
          <p:nvPr/>
        </p:nvSpPr>
        <p:spPr>
          <a:xfrm>
            <a:off x="7545537" y="3429000"/>
            <a:ext cx="1452474" cy="1684096"/>
          </a:xfrm>
          <a:custGeom>
            <a:avLst/>
            <a:gdLst>
              <a:gd name="connsiteX0" fmla="*/ 0 w 726510"/>
              <a:gd name="connsiteY0" fmla="*/ 2054268 h 2054268"/>
              <a:gd name="connsiteX1" fmla="*/ 363255 w 726510"/>
              <a:gd name="connsiteY1" fmla="*/ 1227550 h 2054268"/>
              <a:gd name="connsiteX2" fmla="*/ 726510 w 726510"/>
              <a:gd name="connsiteY2" fmla="*/ 0 h 2054268"/>
              <a:gd name="connsiteX3" fmla="*/ 726510 w 726510"/>
              <a:gd name="connsiteY3" fmla="*/ 0 h 205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6510" h="2054268">
                <a:moveTo>
                  <a:pt x="0" y="2054268"/>
                </a:moveTo>
                <a:cubicBezTo>
                  <a:pt x="121085" y="1812098"/>
                  <a:pt x="242170" y="1569928"/>
                  <a:pt x="363255" y="1227550"/>
                </a:cubicBezTo>
                <a:cubicBezTo>
                  <a:pt x="484340" y="885172"/>
                  <a:pt x="726510" y="0"/>
                  <a:pt x="726510" y="0"/>
                </a:cubicBezTo>
                <a:lnTo>
                  <a:pt x="726510" y="0"/>
                </a:lnTo>
              </a:path>
            </a:pathLst>
          </a:custGeom>
          <a:noFill/>
          <a:ln w="9525">
            <a:solidFill>
              <a:schemeClr val="accent5">
                <a:lumMod val="20000"/>
                <a:lumOff val="8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F4367607-4799-44EA-A2B6-E77AD3BF48AF}"/>
              </a:ext>
            </a:extLst>
          </p:cNvPr>
          <p:cNvCxnSpPr>
            <a:cxnSpLocks/>
          </p:cNvCxnSpPr>
          <p:nvPr/>
        </p:nvCxnSpPr>
        <p:spPr bwMode="auto">
          <a:xfrm flipV="1">
            <a:off x="8674609" y="2955144"/>
            <a:ext cx="345193" cy="927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F3B553E6-3CEA-4BC9-B093-C62AEC639BF5}"/>
              </a:ext>
            </a:extLst>
          </p:cNvPr>
          <p:cNvCxnSpPr>
            <a:cxnSpLocks/>
          </p:cNvCxnSpPr>
          <p:nvPr/>
        </p:nvCxnSpPr>
        <p:spPr bwMode="auto">
          <a:xfrm flipV="1">
            <a:off x="8420370" y="2949192"/>
            <a:ext cx="599432" cy="1336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CF41999-15E3-495F-BECE-2A1CBC3D5660}"/>
              </a:ext>
            </a:extLst>
          </p:cNvPr>
          <p:cNvSpPr txBox="1"/>
          <p:nvPr/>
        </p:nvSpPr>
        <p:spPr>
          <a:xfrm>
            <a:off x="117296" y="5465184"/>
            <a:ext cx="12047766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ca-ES" sz="2000" b="1" dirty="0">
                <a:solidFill>
                  <a:srgbClr val="FF0000"/>
                </a:solidFill>
                <a:latin typeface="Corbel" panose="020B0503020204020204" pitchFamily="34" charset="0"/>
              </a:rPr>
              <a:t>IMPORTANT: </a:t>
            </a:r>
            <a:r>
              <a:rPr lang="ca-ES" sz="2000" dirty="0">
                <a:latin typeface="Corbel" panose="020B0503020204020204" pitchFamily="34" charset="0"/>
              </a:rPr>
              <a:t>Si la bomba treballa en el punt A quan gira a N1, llavors no treballarà en el seu homòleg quan giri a N2 si el circuit es el mateix! </a:t>
            </a:r>
          </a:p>
          <a:p>
            <a:r>
              <a:rPr lang="ca-ES" sz="2000" b="1" dirty="0">
                <a:solidFill>
                  <a:schemeClr val="accent3">
                    <a:lumMod val="75000"/>
                  </a:schemeClr>
                </a:solidFill>
                <a:latin typeface="Corbel" panose="020B0503020204020204" pitchFamily="34" charset="0"/>
              </a:rPr>
              <a:t>Procediment correcte: </a:t>
            </a:r>
            <a:r>
              <a:rPr lang="ca-ES" sz="2000" dirty="0">
                <a:solidFill>
                  <a:schemeClr val="tx1"/>
                </a:solidFill>
                <a:latin typeface="Corbel" panose="020B0503020204020204" pitchFamily="34" charset="0"/>
              </a:rPr>
              <a:t>Calcular la corba generada amb N2 (gràficament o analíticament si es disposa de l’equació) i calcular el nou punt de tall amb la corba del circuit(A’)</a:t>
            </a:r>
            <a:endParaRPr lang="ca-ES" sz="2000" dirty="0">
              <a:solidFill>
                <a:schemeClr val="accent3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0991238-708B-4DCA-8D2F-B46A6C830538}"/>
              </a:ext>
            </a:extLst>
          </p:cNvPr>
          <p:cNvSpPr txBox="1"/>
          <p:nvPr/>
        </p:nvSpPr>
        <p:spPr>
          <a:xfrm>
            <a:off x="9244939" y="4216090"/>
            <a:ext cx="330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A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D743200-223E-4184-A86A-372400B7EECB}"/>
              </a:ext>
            </a:extLst>
          </p:cNvPr>
          <p:cNvSpPr txBox="1"/>
          <p:nvPr/>
        </p:nvSpPr>
        <p:spPr>
          <a:xfrm>
            <a:off x="8554889" y="4276442"/>
            <a:ext cx="406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A’</a:t>
            </a:r>
          </a:p>
        </p:txBody>
      </p:sp>
    </p:spTree>
    <p:extLst>
      <p:ext uri="{BB962C8B-B14F-4D97-AF65-F5344CB8AC3E}">
        <p14:creationId xmlns:p14="http://schemas.microsoft.com/office/powerpoint/2010/main" val="382339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3678" y="877824"/>
            <a:ext cx="11211014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es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3.1.2.1 VARIACIÓ DEL DIAMETRE (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nom</a:t>
            </a:r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653125" y="2071753"/>
            <a:ext cx="5321474" cy="3386092"/>
            <a:chOff x="6479339" y="1767109"/>
            <a:chExt cx="5321474" cy="3386092"/>
          </a:xfrm>
        </p:grpSpPr>
        <p:pic>
          <p:nvPicPr>
            <p:cNvPr id="17" name="Picture 5" descr="D:\dades\Carme\maquines hidràuliques\MH0304\Mh03_04\reg3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706" r="7096"/>
            <a:stretch/>
          </p:blipFill>
          <p:spPr bwMode="auto">
            <a:xfrm>
              <a:off x="6479339" y="1767109"/>
              <a:ext cx="5321474" cy="3386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17"/>
            <p:cNvSpPr/>
            <p:nvPr/>
          </p:nvSpPr>
          <p:spPr>
            <a:xfrm>
              <a:off x="7075596" y="2679631"/>
              <a:ext cx="2107521" cy="2048843"/>
            </a:xfrm>
            <a:custGeom>
              <a:avLst/>
              <a:gdLst>
                <a:gd name="connsiteX0" fmla="*/ 0 w 2412700"/>
                <a:gd name="connsiteY0" fmla="*/ 0 h 2219989"/>
                <a:gd name="connsiteX1" fmla="*/ 2185758 w 2412700"/>
                <a:gd name="connsiteY1" fmla="*/ 2014614 h 2219989"/>
                <a:gd name="connsiteX2" fmla="*/ 2234657 w 2412700"/>
                <a:gd name="connsiteY2" fmla="*/ 2048843 h 2219989"/>
                <a:gd name="connsiteX0" fmla="*/ 0 w 2277495"/>
                <a:gd name="connsiteY0" fmla="*/ 0 h 2072146"/>
                <a:gd name="connsiteX1" fmla="*/ 1701664 w 2277495"/>
                <a:gd name="connsiteY1" fmla="*/ 1217570 h 2072146"/>
                <a:gd name="connsiteX2" fmla="*/ 2234657 w 2277495"/>
                <a:gd name="connsiteY2" fmla="*/ 2048843 h 2072146"/>
                <a:gd name="connsiteX0" fmla="*/ 0 w 2277495"/>
                <a:gd name="connsiteY0" fmla="*/ 0 h 2072146"/>
                <a:gd name="connsiteX1" fmla="*/ 1701664 w 2277495"/>
                <a:gd name="connsiteY1" fmla="*/ 1217570 h 2072146"/>
                <a:gd name="connsiteX2" fmla="*/ 2234657 w 2277495"/>
                <a:gd name="connsiteY2" fmla="*/ 2048843 h 2072146"/>
                <a:gd name="connsiteX0" fmla="*/ 0 w 2277495"/>
                <a:gd name="connsiteY0" fmla="*/ 0 h 2072146"/>
                <a:gd name="connsiteX1" fmla="*/ 1701664 w 2277495"/>
                <a:gd name="connsiteY1" fmla="*/ 1217570 h 2072146"/>
                <a:gd name="connsiteX2" fmla="*/ 2234657 w 2277495"/>
                <a:gd name="connsiteY2" fmla="*/ 2048843 h 2072146"/>
                <a:gd name="connsiteX0" fmla="*/ 0 w 2275584"/>
                <a:gd name="connsiteY0" fmla="*/ 0 h 2073333"/>
                <a:gd name="connsiteX1" fmla="*/ 1701664 w 2275584"/>
                <a:gd name="connsiteY1" fmla="*/ 1217570 h 2073333"/>
                <a:gd name="connsiteX2" fmla="*/ 2234657 w 2275584"/>
                <a:gd name="connsiteY2" fmla="*/ 2048843 h 2073333"/>
                <a:gd name="connsiteX0" fmla="*/ 0 w 2162092"/>
                <a:gd name="connsiteY0" fmla="*/ 0 h 2072146"/>
                <a:gd name="connsiteX1" fmla="*/ 1701664 w 2162092"/>
                <a:gd name="connsiteY1" fmla="*/ 1217570 h 2072146"/>
                <a:gd name="connsiteX2" fmla="*/ 2107521 w 2162092"/>
                <a:gd name="connsiteY2" fmla="*/ 2048843 h 2072146"/>
                <a:gd name="connsiteX0" fmla="*/ 0 w 2107521"/>
                <a:gd name="connsiteY0" fmla="*/ 0 h 2048843"/>
                <a:gd name="connsiteX1" fmla="*/ 1701664 w 2107521"/>
                <a:gd name="connsiteY1" fmla="*/ 1217570 h 2048843"/>
                <a:gd name="connsiteX2" fmla="*/ 2107521 w 2107521"/>
                <a:gd name="connsiteY2" fmla="*/ 2048843 h 2048843"/>
                <a:gd name="connsiteX0" fmla="*/ 0 w 2107521"/>
                <a:gd name="connsiteY0" fmla="*/ 0 h 2048843"/>
                <a:gd name="connsiteX1" fmla="*/ 1701664 w 2107521"/>
                <a:gd name="connsiteY1" fmla="*/ 1217570 h 2048843"/>
                <a:gd name="connsiteX2" fmla="*/ 2107521 w 2107521"/>
                <a:gd name="connsiteY2" fmla="*/ 2048843 h 204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7521" h="2048843">
                  <a:moveTo>
                    <a:pt x="0" y="0"/>
                  </a:moveTo>
                  <a:cubicBezTo>
                    <a:pt x="762815" y="239602"/>
                    <a:pt x="1428647" y="841867"/>
                    <a:pt x="1701664" y="1217570"/>
                  </a:cubicBezTo>
                  <a:cubicBezTo>
                    <a:pt x="1974681" y="1593273"/>
                    <a:pt x="1936783" y="1512997"/>
                    <a:pt x="2107521" y="204884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659907" y="2880116"/>
              <a:ext cx="5623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/>
                <a:t>D1</a:t>
              </a:r>
              <a:endParaRPr lang="ca-E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916651" y="3089820"/>
              <a:ext cx="56233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/>
                <a:t>D2</a:t>
              </a:r>
              <a:endParaRPr lang="ca-E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082281" y="3156011"/>
              <a:ext cx="2496915" cy="1572464"/>
            </a:xfrm>
            <a:custGeom>
              <a:avLst/>
              <a:gdLst>
                <a:gd name="connsiteX0" fmla="*/ 0 w 2412700"/>
                <a:gd name="connsiteY0" fmla="*/ 0 h 2219989"/>
                <a:gd name="connsiteX1" fmla="*/ 2185758 w 2412700"/>
                <a:gd name="connsiteY1" fmla="*/ 2014614 h 2219989"/>
                <a:gd name="connsiteX2" fmla="*/ 2234657 w 2412700"/>
                <a:gd name="connsiteY2" fmla="*/ 2048843 h 2219989"/>
                <a:gd name="connsiteX0" fmla="*/ 0 w 2277495"/>
                <a:gd name="connsiteY0" fmla="*/ 0 h 2072146"/>
                <a:gd name="connsiteX1" fmla="*/ 1701664 w 2277495"/>
                <a:gd name="connsiteY1" fmla="*/ 1217570 h 2072146"/>
                <a:gd name="connsiteX2" fmla="*/ 2234657 w 2277495"/>
                <a:gd name="connsiteY2" fmla="*/ 2048843 h 2072146"/>
                <a:gd name="connsiteX0" fmla="*/ 0 w 2277495"/>
                <a:gd name="connsiteY0" fmla="*/ 0 h 2072146"/>
                <a:gd name="connsiteX1" fmla="*/ 1701664 w 2277495"/>
                <a:gd name="connsiteY1" fmla="*/ 1217570 h 2072146"/>
                <a:gd name="connsiteX2" fmla="*/ 2234657 w 2277495"/>
                <a:gd name="connsiteY2" fmla="*/ 2048843 h 2072146"/>
                <a:gd name="connsiteX0" fmla="*/ 0 w 2277495"/>
                <a:gd name="connsiteY0" fmla="*/ 0 h 2072146"/>
                <a:gd name="connsiteX1" fmla="*/ 1701664 w 2277495"/>
                <a:gd name="connsiteY1" fmla="*/ 1217570 h 2072146"/>
                <a:gd name="connsiteX2" fmla="*/ 2234657 w 2277495"/>
                <a:gd name="connsiteY2" fmla="*/ 2048843 h 2072146"/>
                <a:gd name="connsiteX0" fmla="*/ 0 w 2275584"/>
                <a:gd name="connsiteY0" fmla="*/ 0 h 2073333"/>
                <a:gd name="connsiteX1" fmla="*/ 1701664 w 2275584"/>
                <a:gd name="connsiteY1" fmla="*/ 1217570 h 2073333"/>
                <a:gd name="connsiteX2" fmla="*/ 2234657 w 2275584"/>
                <a:gd name="connsiteY2" fmla="*/ 2048843 h 2073333"/>
                <a:gd name="connsiteX0" fmla="*/ 0 w 2162092"/>
                <a:gd name="connsiteY0" fmla="*/ 0 h 2072146"/>
                <a:gd name="connsiteX1" fmla="*/ 1701664 w 2162092"/>
                <a:gd name="connsiteY1" fmla="*/ 1217570 h 2072146"/>
                <a:gd name="connsiteX2" fmla="*/ 2107521 w 2162092"/>
                <a:gd name="connsiteY2" fmla="*/ 2048843 h 2072146"/>
                <a:gd name="connsiteX0" fmla="*/ 0 w 2107521"/>
                <a:gd name="connsiteY0" fmla="*/ 0 h 2048843"/>
                <a:gd name="connsiteX1" fmla="*/ 1701664 w 2107521"/>
                <a:gd name="connsiteY1" fmla="*/ 1217570 h 2048843"/>
                <a:gd name="connsiteX2" fmla="*/ 2107521 w 2107521"/>
                <a:gd name="connsiteY2" fmla="*/ 2048843 h 2048843"/>
                <a:gd name="connsiteX0" fmla="*/ 0 w 2107521"/>
                <a:gd name="connsiteY0" fmla="*/ 0 h 2048843"/>
                <a:gd name="connsiteX1" fmla="*/ 1701664 w 2107521"/>
                <a:gd name="connsiteY1" fmla="*/ 1217570 h 2048843"/>
                <a:gd name="connsiteX2" fmla="*/ 2107521 w 2107521"/>
                <a:gd name="connsiteY2" fmla="*/ 2048843 h 2048843"/>
                <a:gd name="connsiteX0" fmla="*/ 0 w 2107521"/>
                <a:gd name="connsiteY0" fmla="*/ 0 h 2048843"/>
                <a:gd name="connsiteX1" fmla="*/ 1639754 w 2107521"/>
                <a:gd name="connsiteY1" fmla="*/ 1287654 h 2048843"/>
                <a:gd name="connsiteX2" fmla="*/ 2107521 w 2107521"/>
                <a:gd name="connsiteY2" fmla="*/ 2048843 h 2048843"/>
                <a:gd name="connsiteX0" fmla="*/ 0 w 2107521"/>
                <a:gd name="connsiteY0" fmla="*/ 0 h 2048843"/>
                <a:gd name="connsiteX1" fmla="*/ 1639754 w 2107521"/>
                <a:gd name="connsiteY1" fmla="*/ 1287654 h 2048843"/>
                <a:gd name="connsiteX2" fmla="*/ 2107521 w 2107521"/>
                <a:gd name="connsiteY2" fmla="*/ 2048843 h 2048843"/>
                <a:gd name="connsiteX0" fmla="*/ 0 w 2107521"/>
                <a:gd name="connsiteY0" fmla="*/ 0 h 2048843"/>
                <a:gd name="connsiteX1" fmla="*/ 1631500 w 2107521"/>
                <a:gd name="connsiteY1" fmla="*/ 1294024 h 2048843"/>
                <a:gd name="connsiteX2" fmla="*/ 2107521 w 2107521"/>
                <a:gd name="connsiteY2" fmla="*/ 2048843 h 2048843"/>
                <a:gd name="connsiteX0" fmla="*/ 0 w 2107521"/>
                <a:gd name="connsiteY0" fmla="*/ 0 h 2048843"/>
                <a:gd name="connsiteX1" fmla="*/ 1631500 w 2107521"/>
                <a:gd name="connsiteY1" fmla="*/ 1294024 h 2048843"/>
                <a:gd name="connsiteX2" fmla="*/ 2107521 w 2107521"/>
                <a:gd name="connsiteY2" fmla="*/ 2048843 h 204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7521" h="2048843">
                  <a:moveTo>
                    <a:pt x="0" y="0"/>
                  </a:moveTo>
                  <a:cubicBezTo>
                    <a:pt x="762815" y="239602"/>
                    <a:pt x="1366737" y="892836"/>
                    <a:pt x="1631500" y="1294024"/>
                  </a:cubicBezTo>
                  <a:cubicBezTo>
                    <a:pt x="1896263" y="1695212"/>
                    <a:pt x="1862492" y="1544853"/>
                    <a:pt x="2107521" y="2048843"/>
                  </a:cubicBezTo>
                </a:path>
              </a:pathLst>
            </a:cu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22C5FDA3-E099-4E83-B29A-954DB50DFCC7}"/>
              </a:ext>
            </a:extLst>
          </p:cNvPr>
          <p:cNvSpPr/>
          <p:nvPr/>
        </p:nvSpPr>
        <p:spPr>
          <a:xfrm>
            <a:off x="343678" y="1561221"/>
            <a:ext cx="978846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sz="2000" dirty="0"/>
              <a:t>Això implica instal·lar una nova bomba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ca-ES" sz="2000" dirty="0"/>
              <a:t>Es pot calcular la seva corba característica amb les relacions de semblança </a:t>
            </a:r>
            <a:r>
              <a:rPr lang="ca-ES" sz="2000" b="1" dirty="0"/>
              <a:t>si és geomètricament semblant a la primera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ángulo 19">
                <a:extLst>
                  <a:ext uri="{FF2B5EF4-FFF2-40B4-BE49-F238E27FC236}">
                    <a16:creationId xmlns:a16="http://schemas.microsoft.com/office/drawing/2014/main" id="{66C327A7-DEBC-41A3-852C-553564ECCB78}"/>
                  </a:ext>
                </a:extLst>
              </p:cNvPr>
              <p:cNvSpPr/>
              <p:nvPr/>
            </p:nvSpPr>
            <p:spPr>
              <a:xfrm>
                <a:off x="2554708" y="2730963"/>
                <a:ext cx="1487138" cy="7862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ca-E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l-GR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ángulo 19">
                <a:extLst>
                  <a:ext uri="{FF2B5EF4-FFF2-40B4-BE49-F238E27FC236}">
                    <a16:creationId xmlns:a16="http://schemas.microsoft.com/office/drawing/2014/main" id="{66C327A7-DEBC-41A3-852C-553564ECC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708" y="2730963"/>
                <a:ext cx="1487138" cy="7862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ángulo 21">
                <a:extLst>
                  <a:ext uri="{FF2B5EF4-FFF2-40B4-BE49-F238E27FC236}">
                    <a16:creationId xmlns:a16="http://schemas.microsoft.com/office/drawing/2014/main" id="{67C49544-EE39-4B76-90B8-FC8D4C384212}"/>
                  </a:ext>
                </a:extLst>
              </p:cNvPr>
              <p:cNvSpPr/>
              <p:nvPr/>
            </p:nvSpPr>
            <p:spPr>
              <a:xfrm>
                <a:off x="4321495" y="2738905"/>
                <a:ext cx="1627690" cy="7813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r>
                        <a:rPr lang="es-E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sSup>
                            <m:sSupPr>
                              <m:ctrlP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s-E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n</m:t>
                              </m:r>
                            </m:e>
                            <m:sup>
                              <m:r>
                                <a:rPr lang="es-E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l-GR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s-E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ca-E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Rectángulo 21">
                <a:extLst>
                  <a:ext uri="{FF2B5EF4-FFF2-40B4-BE49-F238E27FC236}">
                    <a16:creationId xmlns:a16="http://schemas.microsoft.com/office/drawing/2014/main" id="{67C49544-EE39-4B76-90B8-FC8D4C3842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495" y="2738905"/>
                <a:ext cx="1627690" cy="781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adroTexto 24">
            <a:extLst>
              <a:ext uri="{FF2B5EF4-FFF2-40B4-BE49-F238E27FC236}">
                <a16:creationId xmlns:a16="http://schemas.microsoft.com/office/drawing/2014/main" id="{7C6AB306-5576-466F-A695-1BE4EB98A47B}"/>
              </a:ext>
            </a:extLst>
          </p:cNvPr>
          <p:cNvSpPr txBox="1"/>
          <p:nvPr/>
        </p:nvSpPr>
        <p:spPr>
          <a:xfrm>
            <a:off x="0" y="5507045"/>
            <a:ext cx="12138124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ca-ES" sz="2000" b="1" dirty="0">
                <a:solidFill>
                  <a:srgbClr val="FF0000"/>
                </a:solidFill>
                <a:latin typeface="Corbel" panose="020B0503020204020204" pitchFamily="34" charset="0"/>
              </a:rPr>
              <a:t>IMPORTANT: </a:t>
            </a:r>
            <a:r>
              <a:rPr lang="ca-ES" sz="2000" dirty="0">
                <a:latin typeface="Corbel" panose="020B0503020204020204" pitchFamily="34" charset="0"/>
              </a:rPr>
              <a:t>Si la bomba treballa en el punt A quan tenia D1, llavors no treballarà en el seu homòleg quan la bomba tingui el diàmetre D2</a:t>
            </a:r>
          </a:p>
          <a:p>
            <a:r>
              <a:rPr lang="ca-ES" sz="2000" b="1" dirty="0">
                <a:solidFill>
                  <a:schemeClr val="accent3">
                    <a:lumMod val="75000"/>
                  </a:schemeClr>
                </a:solidFill>
                <a:latin typeface="Corbel" panose="020B0503020204020204" pitchFamily="34" charset="0"/>
              </a:rPr>
              <a:t>Procediment correcte: </a:t>
            </a:r>
            <a:r>
              <a:rPr lang="ca-ES" sz="2000" dirty="0">
                <a:solidFill>
                  <a:schemeClr val="tx1"/>
                </a:solidFill>
                <a:latin typeface="Corbel" panose="020B0503020204020204" pitchFamily="34" charset="0"/>
              </a:rPr>
              <a:t>Calcular la corba generada amb D2 (gràficament o analíticament si es disposa de l’equació) i calcular el nou punt de tall amb la corba del circuit(A’)</a:t>
            </a:r>
            <a:endParaRPr lang="ca-ES" sz="2000" dirty="0">
              <a:solidFill>
                <a:schemeClr val="accent3">
                  <a:lumMod val="75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DCB262C-40BF-4B18-8E96-454EAB6FB1DE}"/>
              </a:ext>
            </a:extLst>
          </p:cNvPr>
          <p:cNvSpPr/>
          <p:nvPr/>
        </p:nvSpPr>
        <p:spPr>
          <a:xfrm>
            <a:off x="9505335" y="3905870"/>
            <a:ext cx="117987" cy="14748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30C05FD-3C59-42A4-BD6E-006A50AF823B}"/>
              </a:ext>
            </a:extLst>
          </p:cNvPr>
          <p:cNvSpPr/>
          <p:nvPr/>
        </p:nvSpPr>
        <p:spPr>
          <a:xfrm>
            <a:off x="9114858" y="4454483"/>
            <a:ext cx="117987" cy="14748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06C9E467-1F2A-490A-9C03-4F335E4BFAE1}"/>
              </a:ext>
            </a:extLst>
          </p:cNvPr>
          <p:cNvSpPr/>
          <p:nvPr/>
        </p:nvSpPr>
        <p:spPr>
          <a:xfrm>
            <a:off x="8920315" y="4175226"/>
            <a:ext cx="117987" cy="147484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F07ABA7-AB3C-4550-8AC2-10124412EE59}"/>
              </a:ext>
            </a:extLst>
          </p:cNvPr>
          <p:cNvCxnSpPr>
            <a:cxnSpLocks/>
            <a:stCxn id="4" idx="6"/>
          </p:cNvCxnSpPr>
          <p:nvPr/>
        </p:nvCxnSpPr>
        <p:spPr>
          <a:xfrm flipV="1">
            <a:off x="9623322" y="2700536"/>
            <a:ext cx="58994" cy="1279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C87B1D18-FA32-4877-AB29-E368D49C6824}"/>
              </a:ext>
            </a:extLst>
          </p:cNvPr>
          <p:cNvCxnSpPr>
            <a:cxnSpLocks/>
            <a:stCxn id="26" idx="7"/>
          </p:cNvCxnSpPr>
          <p:nvPr/>
        </p:nvCxnSpPr>
        <p:spPr>
          <a:xfrm flipV="1">
            <a:off x="9215566" y="2700536"/>
            <a:ext cx="466750" cy="177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852ACEC-3011-4BA8-B7B3-2C463800833A}"/>
                  </a:ext>
                </a:extLst>
              </p:cNvPr>
              <p:cNvSpPr txBox="1"/>
              <p:nvPr/>
            </p:nvSpPr>
            <p:spPr>
              <a:xfrm>
                <a:off x="7864853" y="2392759"/>
                <a:ext cx="3273607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ca-ES" dirty="0"/>
                  <a:t>Punts homòlegs: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ca-ES" dirty="0"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ca-ES" dirty="0"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8852ACEC-3011-4BA8-B7B3-2C4638008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853" y="2392759"/>
                <a:ext cx="3273607" cy="307777"/>
              </a:xfrm>
              <a:prstGeom prst="rect">
                <a:avLst/>
              </a:prstGeom>
              <a:blipFill>
                <a:blip r:embed="rId7"/>
                <a:stretch>
                  <a:fillRect l="-371" t="-1923" b="-173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447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255188" y="792215"/>
            <a:ext cx="11211014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es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CÀLCUL DE PUNTS HOMÒLEGS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8"/>
              <p:cNvSpPr txBox="1"/>
              <p:nvPr/>
            </p:nvSpPr>
            <p:spPr>
              <a:xfrm>
                <a:off x="710706" y="2454682"/>
                <a:ext cx="5154369" cy="776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b="0" i="0" dirty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b="0" i="0" dirty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s-E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s-E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800" i="1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s-E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b="0" i="0" dirty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s-E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s-ES" sz="1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ES" sz="1800" b="1" i="1"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s-ES" sz="1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s-E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 smtClean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 smtClean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12" name="CuadroTexto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06" y="2454682"/>
                <a:ext cx="5154369" cy="7764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28"/>
              <p:cNvSpPr txBox="1"/>
              <p:nvPr/>
            </p:nvSpPr>
            <p:spPr>
              <a:xfrm>
                <a:off x="703823" y="1520480"/>
                <a:ext cx="5535928" cy="813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b="0" i="0" dirty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b="0" i="0" dirty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s-ES" sz="18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s-E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b="0" i="0" dirty="0" smtClean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</m:sSubSup>
                          <m:sSubSup>
                            <m:sSubSupPr>
                              <m:ctrlPr>
                                <a:rPr lang="es-E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s-ES" sz="18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  <a:sym typeface="Symbol" panose="05050102010706020507" pitchFamily="18" charset="2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E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s-E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s-ES" sz="1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b="1" i="1" smtClean="0"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b>
                              <m:r>
                                <a:rPr lang="es-ES" sz="18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s-ES" sz="1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 smtClean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 smtClean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/>
                      </m:sSup>
                      <m:sSup>
                        <m:sSupPr>
                          <m:ctrlP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1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1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sz="1800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sz="1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1800" b="1" i="1" dirty="0"/>
              </a:p>
            </p:txBody>
          </p:sp>
        </mc:Choice>
        <mc:Fallback xmlns="">
          <p:sp>
            <p:nvSpPr>
              <p:cNvPr id="13" name="CuadroTexto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23" y="1520480"/>
                <a:ext cx="5535928" cy="8134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5" descr="D:\dades\Carme\maquines hidràuliques\MH0304\Mh03_04\reg3.jpg">
            <a:extLst>
              <a:ext uri="{FF2B5EF4-FFF2-40B4-BE49-F238E27FC236}">
                <a16:creationId xmlns:a16="http://schemas.microsoft.com/office/drawing/2014/main" id="{37A85C95-2AB4-4A9E-A8D4-45E1BEE059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6" r="7096"/>
          <a:stretch/>
        </p:blipFill>
        <p:spPr bwMode="auto">
          <a:xfrm>
            <a:off x="6972081" y="1560126"/>
            <a:ext cx="4048392" cy="25760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9B20E62E-496B-4F6D-A12A-C90D0B83A305}"/>
              </a:ext>
            </a:extLst>
          </p:cNvPr>
          <p:cNvSpPr txBox="1"/>
          <p:nvPr/>
        </p:nvSpPr>
        <p:spPr>
          <a:xfrm>
            <a:off x="9836602" y="2886024"/>
            <a:ext cx="2093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1200" i="1" dirty="0"/>
              <a:t>En la figura: n1,D1 poden ser diferents a n2,D2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2CA84FA-6091-4712-8571-FDDB85D6A318}"/>
              </a:ext>
            </a:extLst>
          </p:cNvPr>
          <p:cNvCxnSpPr>
            <a:cxnSpLocks/>
          </p:cNvCxnSpPr>
          <p:nvPr/>
        </p:nvCxnSpPr>
        <p:spPr bwMode="auto">
          <a:xfrm flipV="1">
            <a:off x="9217856" y="1771845"/>
            <a:ext cx="69391" cy="12593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16E0F7C-5EB3-4A35-A1C6-63CD41D8942E}"/>
              </a:ext>
            </a:extLst>
          </p:cNvPr>
          <p:cNvCxnSpPr>
            <a:cxnSpLocks/>
            <a:stCxn id="29" idx="4"/>
          </p:cNvCxnSpPr>
          <p:nvPr/>
        </p:nvCxnSpPr>
        <p:spPr bwMode="auto">
          <a:xfrm flipV="1">
            <a:off x="8960273" y="1788673"/>
            <a:ext cx="290970" cy="16844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DD04F6A-5BD3-492F-AC94-1710DAED53C4}"/>
                  </a:ext>
                </a:extLst>
              </p:cNvPr>
              <p:cNvSpPr txBox="1"/>
              <p:nvPr/>
            </p:nvSpPr>
            <p:spPr>
              <a:xfrm>
                <a:off x="7746866" y="1362825"/>
                <a:ext cx="3273607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ca-ES" dirty="0"/>
                  <a:t>Punts homòlegs: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ca-ES" dirty="0"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′,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ca-ES" dirty="0"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DD04F6A-5BD3-492F-AC94-1710DAED5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6866" y="1362825"/>
                <a:ext cx="3273607" cy="307777"/>
              </a:xfrm>
              <a:prstGeom prst="rect">
                <a:avLst/>
              </a:prstGeom>
              <a:blipFill>
                <a:blip r:embed="rId7"/>
                <a:stretch>
                  <a:fillRect l="-371" t="-1923" b="-1730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Elipse 27">
            <a:extLst>
              <a:ext uri="{FF2B5EF4-FFF2-40B4-BE49-F238E27FC236}">
                <a16:creationId xmlns:a16="http://schemas.microsoft.com/office/drawing/2014/main" id="{F5871DC6-16B9-43EA-86CC-A975A4715951}"/>
              </a:ext>
            </a:extLst>
          </p:cNvPr>
          <p:cNvSpPr/>
          <p:nvPr/>
        </p:nvSpPr>
        <p:spPr bwMode="auto">
          <a:xfrm>
            <a:off x="7417656" y="3765360"/>
            <a:ext cx="72008" cy="96083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984E131-1E08-4625-B338-89A8EBF47940}"/>
              </a:ext>
            </a:extLst>
          </p:cNvPr>
          <p:cNvSpPr/>
          <p:nvPr/>
        </p:nvSpPr>
        <p:spPr bwMode="auto">
          <a:xfrm>
            <a:off x="8924269" y="3377067"/>
            <a:ext cx="72008" cy="96083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2BA7CF96-7314-4287-AA1C-7A19D8BA26A8}"/>
              </a:ext>
            </a:extLst>
          </p:cNvPr>
          <p:cNvSpPr/>
          <p:nvPr/>
        </p:nvSpPr>
        <p:spPr bwMode="auto">
          <a:xfrm>
            <a:off x="9179235" y="2940273"/>
            <a:ext cx="72008" cy="96083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Forma libre 31">
            <a:extLst>
              <a:ext uri="{FF2B5EF4-FFF2-40B4-BE49-F238E27FC236}">
                <a16:creationId xmlns:a16="http://schemas.microsoft.com/office/drawing/2014/main" id="{B3E806AB-0617-43B4-9991-42B99BBECB31}"/>
              </a:ext>
            </a:extLst>
          </p:cNvPr>
          <p:cNvSpPr/>
          <p:nvPr/>
        </p:nvSpPr>
        <p:spPr bwMode="auto">
          <a:xfrm>
            <a:off x="7448379" y="1751510"/>
            <a:ext cx="2130640" cy="2056354"/>
          </a:xfrm>
          <a:custGeom>
            <a:avLst/>
            <a:gdLst>
              <a:gd name="connsiteX0" fmla="*/ 0 w 2130640"/>
              <a:gd name="connsiteY0" fmla="*/ 2036895 h 2056354"/>
              <a:gd name="connsiteX1" fmla="*/ 272562 w 2130640"/>
              <a:gd name="connsiteY1" fmla="*/ 2036895 h 2056354"/>
              <a:gd name="connsiteX2" fmla="*/ 1178169 w 2130640"/>
              <a:gd name="connsiteY2" fmla="*/ 1834672 h 2056354"/>
              <a:gd name="connsiteX3" fmla="*/ 1696915 w 2130640"/>
              <a:gd name="connsiteY3" fmla="*/ 1439018 h 2056354"/>
              <a:gd name="connsiteX4" fmla="*/ 2092569 w 2130640"/>
              <a:gd name="connsiteY4" fmla="*/ 128964 h 2056354"/>
              <a:gd name="connsiteX5" fmla="*/ 2092569 w 2130640"/>
              <a:gd name="connsiteY5" fmla="*/ 120172 h 2056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30640" h="2056354">
                <a:moveTo>
                  <a:pt x="0" y="2036895"/>
                </a:moveTo>
                <a:cubicBezTo>
                  <a:pt x="38100" y="2053747"/>
                  <a:pt x="76201" y="2070599"/>
                  <a:pt x="272562" y="2036895"/>
                </a:cubicBezTo>
                <a:cubicBezTo>
                  <a:pt x="468923" y="2003191"/>
                  <a:pt x="940777" y="1934318"/>
                  <a:pt x="1178169" y="1834672"/>
                </a:cubicBezTo>
                <a:cubicBezTo>
                  <a:pt x="1415561" y="1735026"/>
                  <a:pt x="1544515" y="1723303"/>
                  <a:pt x="1696915" y="1439018"/>
                </a:cubicBezTo>
                <a:cubicBezTo>
                  <a:pt x="1849315" y="1154733"/>
                  <a:pt x="2092569" y="128964"/>
                  <a:pt x="2092569" y="128964"/>
                </a:cubicBezTo>
                <a:cubicBezTo>
                  <a:pt x="2158511" y="-90844"/>
                  <a:pt x="2125540" y="14664"/>
                  <a:pt x="2092569" y="12017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308FBECA-96C1-4582-8BF5-9DFEE603C24D}"/>
              </a:ext>
            </a:extLst>
          </p:cNvPr>
          <p:cNvSpPr/>
          <p:nvPr/>
        </p:nvSpPr>
        <p:spPr>
          <a:xfrm>
            <a:off x="8696994" y="3183961"/>
            <a:ext cx="120769" cy="87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8AD5504-66E7-46EF-AE1C-F64D44CA8DEE}"/>
              </a:ext>
            </a:extLst>
          </p:cNvPr>
          <p:cNvSpPr/>
          <p:nvPr/>
        </p:nvSpPr>
        <p:spPr bwMode="auto">
          <a:xfrm>
            <a:off x="8010139" y="2280262"/>
            <a:ext cx="72008" cy="9608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569DDE3-DBA7-4BEB-B04C-6685FE0CD8C7}"/>
              </a:ext>
            </a:extLst>
          </p:cNvPr>
          <p:cNvSpPr/>
          <p:nvPr/>
        </p:nvSpPr>
        <p:spPr bwMode="auto">
          <a:xfrm>
            <a:off x="7874440" y="2701979"/>
            <a:ext cx="72008" cy="9608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Forma libre: forma 34">
            <a:extLst>
              <a:ext uri="{FF2B5EF4-FFF2-40B4-BE49-F238E27FC236}">
                <a16:creationId xmlns:a16="http://schemas.microsoft.com/office/drawing/2014/main" id="{CA5D6995-AB21-4855-85F0-8475F5BA8EA6}"/>
              </a:ext>
            </a:extLst>
          </p:cNvPr>
          <p:cNvSpPr/>
          <p:nvPr/>
        </p:nvSpPr>
        <p:spPr>
          <a:xfrm>
            <a:off x="7454400" y="1801223"/>
            <a:ext cx="726510" cy="2054268"/>
          </a:xfrm>
          <a:custGeom>
            <a:avLst/>
            <a:gdLst>
              <a:gd name="connsiteX0" fmla="*/ 0 w 726510"/>
              <a:gd name="connsiteY0" fmla="*/ 2054268 h 2054268"/>
              <a:gd name="connsiteX1" fmla="*/ 363255 w 726510"/>
              <a:gd name="connsiteY1" fmla="*/ 1227550 h 2054268"/>
              <a:gd name="connsiteX2" fmla="*/ 726510 w 726510"/>
              <a:gd name="connsiteY2" fmla="*/ 0 h 2054268"/>
              <a:gd name="connsiteX3" fmla="*/ 726510 w 726510"/>
              <a:gd name="connsiteY3" fmla="*/ 0 h 205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6510" h="2054268">
                <a:moveTo>
                  <a:pt x="0" y="2054268"/>
                </a:moveTo>
                <a:cubicBezTo>
                  <a:pt x="121085" y="1812098"/>
                  <a:pt x="242170" y="1569928"/>
                  <a:pt x="363255" y="1227550"/>
                </a:cubicBezTo>
                <a:cubicBezTo>
                  <a:pt x="484340" y="885172"/>
                  <a:pt x="726510" y="0"/>
                  <a:pt x="726510" y="0"/>
                </a:cubicBezTo>
                <a:lnTo>
                  <a:pt x="726510" y="0"/>
                </a:lnTo>
              </a:path>
            </a:pathLst>
          </a:custGeom>
          <a:noFill/>
          <a:ln w="9525">
            <a:solidFill>
              <a:schemeClr val="accent2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4A87CD1-AC60-406C-B630-BBB36EB61F14}"/>
              </a:ext>
            </a:extLst>
          </p:cNvPr>
          <p:cNvCxnSpPr>
            <a:cxnSpLocks/>
            <a:stCxn id="33" idx="6"/>
          </p:cNvCxnSpPr>
          <p:nvPr/>
        </p:nvCxnSpPr>
        <p:spPr bwMode="auto">
          <a:xfrm flipV="1">
            <a:off x="8082147" y="1681811"/>
            <a:ext cx="661018" cy="6464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0D65BC7A-3DFD-4EB0-86DD-83426FC5D19C}"/>
              </a:ext>
            </a:extLst>
          </p:cNvPr>
          <p:cNvCxnSpPr>
            <a:cxnSpLocks/>
          </p:cNvCxnSpPr>
          <p:nvPr/>
        </p:nvCxnSpPr>
        <p:spPr bwMode="auto">
          <a:xfrm flipV="1">
            <a:off x="7964391" y="1697539"/>
            <a:ext cx="792987" cy="10044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866F123E-8303-476E-81F9-9422EF524108}"/>
              </a:ext>
            </a:extLst>
          </p:cNvPr>
          <p:cNvSpPr/>
          <p:nvPr/>
        </p:nvSpPr>
        <p:spPr bwMode="auto">
          <a:xfrm>
            <a:off x="8571051" y="2581668"/>
            <a:ext cx="72008" cy="9608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F9FFBB0B-9BD0-40CD-9B69-D5C0C1CE97FC}"/>
              </a:ext>
            </a:extLst>
          </p:cNvPr>
          <p:cNvSpPr/>
          <p:nvPr/>
        </p:nvSpPr>
        <p:spPr bwMode="auto">
          <a:xfrm>
            <a:off x="8303136" y="2928441"/>
            <a:ext cx="72008" cy="9608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Forma libre: forma 39">
            <a:extLst>
              <a:ext uri="{FF2B5EF4-FFF2-40B4-BE49-F238E27FC236}">
                <a16:creationId xmlns:a16="http://schemas.microsoft.com/office/drawing/2014/main" id="{E3566ADA-2162-4D08-A485-387B27F0B157}"/>
              </a:ext>
            </a:extLst>
          </p:cNvPr>
          <p:cNvSpPr/>
          <p:nvPr/>
        </p:nvSpPr>
        <p:spPr>
          <a:xfrm>
            <a:off x="7471795" y="2123768"/>
            <a:ext cx="1452474" cy="1684096"/>
          </a:xfrm>
          <a:custGeom>
            <a:avLst/>
            <a:gdLst>
              <a:gd name="connsiteX0" fmla="*/ 0 w 726510"/>
              <a:gd name="connsiteY0" fmla="*/ 2054268 h 2054268"/>
              <a:gd name="connsiteX1" fmla="*/ 363255 w 726510"/>
              <a:gd name="connsiteY1" fmla="*/ 1227550 h 2054268"/>
              <a:gd name="connsiteX2" fmla="*/ 726510 w 726510"/>
              <a:gd name="connsiteY2" fmla="*/ 0 h 2054268"/>
              <a:gd name="connsiteX3" fmla="*/ 726510 w 726510"/>
              <a:gd name="connsiteY3" fmla="*/ 0 h 205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6510" h="2054268">
                <a:moveTo>
                  <a:pt x="0" y="2054268"/>
                </a:moveTo>
                <a:cubicBezTo>
                  <a:pt x="121085" y="1812098"/>
                  <a:pt x="242170" y="1569928"/>
                  <a:pt x="363255" y="1227550"/>
                </a:cubicBezTo>
                <a:cubicBezTo>
                  <a:pt x="484340" y="885172"/>
                  <a:pt x="726510" y="0"/>
                  <a:pt x="726510" y="0"/>
                </a:cubicBezTo>
                <a:lnTo>
                  <a:pt x="726510" y="0"/>
                </a:lnTo>
              </a:path>
            </a:pathLst>
          </a:custGeom>
          <a:noFill/>
          <a:ln w="9525">
            <a:solidFill>
              <a:schemeClr val="accent5">
                <a:lumMod val="20000"/>
                <a:lumOff val="8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254CECAA-7475-465D-AFD0-72EEF81F1197}"/>
              </a:ext>
            </a:extLst>
          </p:cNvPr>
          <p:cNvCxnSpPr>
            <a:cxnSpLocks/>
          </p:cNvCxnSpPr>
          <p:nvPr/>
        </p:nvCxnSpPr>
        <p:spPr bwMode="auto">
          <a:xfrm flipV="1">
            <a:off x="8600867" y="1649912"/>
            <a:ext cx="345193" cy="927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9E80F53E-3C7D-4529-BCDB-FDA48CB3F3CB}"/>
              </a:ext>
            </a:extLst>
          </p:cNvPr>
          <p:cNvCxnSpPr>
            <a:cxnSpLocks/>
          </p:cNvCxnSpPr>
          <p:nvPr/>
        </p:nvCxnSpPr>
        <p:spPr bwMode="auto">
          <a:xfrm flipV="1">
            <a:off x="8346628" y="1643960"/>
            <a:ext cx="599432" cy="13367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4E1839C-26AA-4098-B531-6A3278758B15}"/>
              </a:ext>
            </a:extLst>
          </p:cNvPr>
          <p:cNvSpPr txBox="1"/>
          <p:nvPr/>
        </p:nvSpPr>
        <p:spPr>
          <a:xfrm>
            <a:off x="9171197" y="2910858"/>
            <a:ext cx="330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9257428-FC7E-4D55-AF7E-B395496D4F85}"/>
              </a:ext>
            </a:extLst>
          </p:cNvPr>
          <p:cNvSpPr txBox="1"/>
          <p:nvPr/>
        </p:nvSpPr>
        <p:spPr>
          <a:xfrm>
            <a:off x="8481147" y="2971210"/>
            <a:ext cx="406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A’</a:t>
            </a:r>
          </a:p>
        </p:txBody>
      </p:sp>
      <p:sp>
        <p:nvSpPr>
          <p:cNvPr id="45" name="Google Shape;115;p3">
            <a:extLst>
              <a:ext uri="{FF2B5EF4-FFF2-40B4-BE49-F238E27FC236}">
                <a16:creationId xmlns:a16="http://schemas.microsoft.com/office/drawing/2014/main" id="{5651B98E-7167-4DDE-A73A-9FFA19829757}"/>
              </a:ext>
            </a:extLst>
          </p:cNvPr>
          <p:cNvSpPr txBox="1"/>
          <p:nvPr/>
        </p:nvSpPr>
        <p:spPr>
          <a:xfrm>
            <a:off x="0" y="3961701"/>
            <a:ext cx="11211014" cy="62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ca-ES" sz="105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ca-ES" sz="24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 es disposa de l’equació analítica (o un ajust):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86CD8E1-D693-4464-A511-4113DD6DAEE7}"/>
                  </a:ext>
                </a:extLst>
              </p:cNvPr>
              <p:cNvSpPr txBox="1"/>
              <p:nvPr/>
            </p:nvSpPr>
            <p:spPr>
              <a:xfrm>
                <a:off x="552162" y="4946791"/>
                <a:ext cx="3092696" cy="31021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ca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ca-ES" dirty="0"/>
                  <a:t> (Equació situació 1)</a:t>
                </a:r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986CD8E1-D693-4464-A511-4113DD6DA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62" y="4946791"/>
                <a:ext cx="3092696" cy="310213"/>
              </a:xfrm>
              <a:prstGeom prst="rect">
                <a:avLst/>
              </a:prstGeom>
              <a:blipFill>
                <a:blip r:embed="rId8"/>
                <a:stretch>
                  <a:fillRect b="-21569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5C324534-3466-4EEE-8985-6CE7E206B5C8}"/>
              </a:ext>
            </a:extLst>
          </p:cNvPr>
          <p:cNvSpPr txBox="1"/>
          <p:nvPr/>
        </p:nvSpPr>
        <p:spPr>
          <a:xfrm>
            <a:off x="108852" y="3374965"/>
            <a:ext cx="65612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Mètode a utilitzar quan tenim informació gràfica només.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Posteriorment es pot fer una regressió amb els nous punt i trobar la corba característica per D2,N2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E2246D3-E9AC-49C1-9E6D-08ABEAEA6B51}"/>
              </a:ext>
            </a:extLst>
          </p:cNvPr>
          <p:cNvCxnSpPr>
            <a:cxnSpLocks/>
          </p:cNvCxnSpPr>
          <p:nvPr/>
        </p:nvCxnSpPr>
        <p:spPr>
          <a:xfrm>
            <a:off x="3664975" y="5115099"/>
            <a:ext cx="575186" cy="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3BFBA2A-E03C-461F-9072-62D0F2DD46A1}"/>
                  </a:ext>
                </a:extLst>
              </p:cNvPr>
              <p:cNvSpPr txBox="1"/>
              <p:nvPr/>
            </p:nvSpPr>
            <p:spPr>
              <a:xfrm>
                <a:off x="4488005" y="4612433"/>
                <a:ext cx="3594142" cy="526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ca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E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𝟐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𝟐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13BFBA2A-E03C-461F-9072-62D0F2DD4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05" y="4612433"/>
                <a:ext cx="3594142" cy="5264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19F8E91D-F9FA-41BA-BCA7-E57ABB972E83}"/>
                  </a:ext>
                </a:extLst>
              </p:cNvPr>
              <p:cNvSpPr txBox="1"/>
              <p:nvPr/>
            </p:nvSpPr>
            <p:spPr>
              <a:xfrm>
                <a:off x="4488005" y="5084381"/>
                <a:ext cx="3594142" cy="540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ca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E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𝟐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/>
                    </m:sSup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𝟐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19F8E91D-F9FA-41BA-BCA7-E57ABB972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05" y="5084381"/>
                <a:ext cx="3594142" cy="5400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3AF43D8-C40C-4274-9EE0-8DEAB2C95264}"/>
              </a:ext>
            </a:extLst>
          </p:cNvPr>
          <p:cNvCxnSpPr>
            <a:cxnSpLocks/>
          </p:cNvCxnSpPr>
          <p:nvPr/>
        </p:nvCxnSpPr>
        <p:spPr>
          <a:xfrm>
            <a:off x="6472084" y="5106758"/>
            <a:ext cx="575186" cy="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90B86617-4013-4B48-B267-C22767C1294A}"/>
                  </a:ext>
                </a:extLst>
              </p:cNvPr>
              <p:cNvSpPr txBox="1"/>
              <p:nvPr/>
            </p:nvSpPr>
            <p:spPr>
              <a:xfrm>
                <a:off x="6754541" y="4719975"/>
                <a:ext cx="4678094" cy="735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nor/>
                        </m:rPr>
                        <a:rPr lang="es-ES" b="1" dirty="0"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es-ES" b="1" i="1" dirty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a:rPr lang="es-ES" b="1" i="1" dirty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s-E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E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s-ES" b="1" i="1" dirty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E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s-ES" b="1" i="1" dirty="0">
                                          <a:latin typeface="Arial" panose="020B0604020202020204" pitchFamily="34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s-ES" b="1" i="1" dirty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  <a:sym typeface="Symbol" panose="05050102010706020507" pitchFamily="18" charset="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E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E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s-E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s-ES" b="1" dirty="0"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s-E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E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s-ES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s-ES" b="1" i="1" dirty="0">
                                                  <a:latin typeface="Arial" panose="020B0604020202020204" pitchFamily="34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b="1" i="1" dirty="0" smtClean="0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s-ES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s-ES" b="1" i="1" dirty="0">
                                                  <a:latin typeface="Arial" panose="020B0604020202020204" pitchFamily="34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n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b="1" i="1" dirty="0" smtClean="0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/>
                              </m:sSup>
                              <m:sSup>
                                <m:sSupPr>
                                  <m:ctrlPr>
                                    <a:rPr lang="es-E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ES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ES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s-ES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s-ES" b="1" i="1" dirty="0">
                                                  <a:latin typeface="Arial" panose="020B0604020202020204" pitchFamily="34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D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b="1" i="1" dirty="0" smtClean="0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s-ES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nor/>
                                                </m:rPr>
                                                <a:rPr lang="es-ES" b="1" i="1" dirty="0">
                                                  <a:latin typeface="Arial" panose="020B0604020202020204" pitchFamily="34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D</m:t>
                                              </m:r>
                                            </m:e>
                                            <m:sub>
                                              <m:r>
                                                <a:rPr lang="es-ES" b="1" i="1" dirty="0" smtClean="0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  <a:sym typeface="Symbol" panose="05050102010706020507" pitchFamily="18" charset="2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s-ES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ca-ES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90B86617-4013-4B48-B267-C22767C12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541" y="4719975"/>
                <a:ext cx="4678094" cy="7359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BBC23A5F-5A0C-43FB-8350-7C9ACD6DCB6B}"/>
              </a:ext>
            </a:extLst>
          </p:cNvPr>
          <p:cNvCxnSpPr>
            <a:cxnSpLocks/>
          </p:cNvCxnSpPr>
          <p:nvPr/>
        </p:nvCxnSpPr>
        <p:spPr>
          <a:xfrm>
            <a:off x="813029" y="5940621"/>
            <a:ext cx="575186" cy="6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F7BE7145-087C-4710-8261-8F173C73417C}"/>
                  </a:ext>
                </a:extLst>
              </p:cNvPr>
              <p:cNvSpPr txBox="1"/>
              <p:nvPr/>
            </p:nvSpPr>
            <p:spPr>
              <a:xfrm>
                <a:off x="1376628" y="5683810"/>
                <a:ext cx="6804282" cy="52642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es-ES" b="1" dirty="0">
                        <a:ea typeface="Cambria Math" panose="02040503050406030204" pitchFamily="18" charset="0"/>
                      </a:rPr>
                      <m:t>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𝟐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𝟐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s-E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s-ES" b="1" i="1" dirty="0">
                                        <a:latin typeface="Arial" panose="020B0604020202020204" pitchFamily="34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s-ES" b="1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  <a:sym typeface="Symbol" panose="05050102010706020507" pitchFamily="18" charset="2"/>
                                      </a:rPr>
                                      <m:t>𝟐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s-ES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Symbol" panose="05050102010706020507" pitchFamily="18" charset="2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s-ES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E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  <m:sub>
                            <m:r>
                              <a:rPr lang="es-E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ca-ES" dirty="0"/>
                  <a:t> (Equació en situació 2: Diferent D, diferent n)</a:t>
                </a: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F7BE7145-087C-4710-8261-8F173C734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628" y="5683810"/>
                <a:ext cx="6804282" cy="52642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F0EC1151-3AFD-462F-B295-E1D11940FB30}"/>
              </a:ext>
            </a:extLst>
          </p:cNvPr>
          <p:cNvSpPr txBox="1"/>
          <p:nvPr/>
        </p:nvSpPr>
        <p:spPr>
          <a:xfrm>
            <a:off x="8743165" y="2402805"/>
            <a:ext cx="569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,D1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D16F4FD-CC23-4484-A1C9-704CBFD5475E}"/>
              </a:ext>
            </a:extLst>
          </p:cNvPr>
          <p:cNvSpPr txBox="1"/>
          <p:nvPr/>
        </p:nvSpPr>
        <p:spPr>
          <a:xfrm>
            <a:off x="8195864" y="2561854"/>
            <a:ext cx="569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,D2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70CB7B-402D-FB75-5D85-948DDA770A6A}"/>
              </a:ext>
            </a:extLst>
          </p:cNvPr>
          <p:cNvSpPr txBox="1"/>
          <p:nvPr/>
        </p:nvSpPr>
        <p:spPr>
          <a:xfrm>
            <a:off x="552162" y="4612433"/>
            <a:ext cx="239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>
                <a:solidFill>
                  <a:srgbClr val="FF0000"/>
                </a:solidFill>
              </a:rPr>
              <a:t>Exemple equació típica</a:t>
            </a:r>
          </a:p>
        </p:txBody>
      </p:sp>
    </p:spTree>
    <p:extLst>
      <p:ext uri="{BB962C8B-B14F-4D97-AF65-F5344CB8AC3E}">
        <p14:creationId xmlns:p14="http://schemas.microsoft.com/office/powerpoint/2010/main" val="351136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3678" y="877824"/>
            <a:ext cx="11211014" cy="136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3.1.2.3 VARIACIÓ DE LA POSICIÓ DELS ÀLEPS (Pitch)</a:t>
            </a:r>
          </a:p>
          <a:p>
            <a:pPr lvl="0"/>
            <a:endParaRPr lang="es-ES" sz="105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Sistema exclusió per a bombes axials</a:t>
            </a:r>
          </a:p>
          <a:p>
            <a:pPr lvl="0"/>
            <a:endParaRPr lang="es-ES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" name="Google Shape;115;p3"/>
          <p:cNvSpPr txBox="1"/>
          <p:nvPr/>
        </p:nvSpPr>
        <p:spPr>
          <a:xfrm>
            <a:off x="343678" y="5495022"/>
            <a:ext cx="6522635" cy="99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es-ES" sz="105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Sistema òptim des del punt de vista del rendiment</a:t>
            </a:r>
          </a:p>
          <a:p>
            <a:pPr lvl="0"/>
            <a:r>
              <a:rPr lang="es-E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</a:p>
        </p:txBody>
      </p:sp>
      <p:pic>
        <p:nvPicPr>
          <p:cNvPr id="12" name="Picture 2" descr="RodeteAxial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62324" y="1654621"/>
            <a:ext cx="3029068" cy="227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582" y="4152393"/>
            <a:ext cx="2914553" cy="2124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Flecha circular 18"/>
          <p:cNvSpPr/>
          <p:nvPr/>
        </p:nvSpPr>
        <p:spPr bwMode="auto">
          <a:xfrm rot="4636298" flipH="1">
            <a:off x="8994591" y="4553304"/>
            <a:ext cx="576064" cy="545175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ca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289942" y="1870363"/>
            <a:ext cx="5210611" cy="3834473"/>
            <a:chOff x="7467600" y="407708"/>
            <a:chExt cx="4139263" cy="2979486"/>
          </a:xfrm>
        </p:grpSpPr>
        <p:pic>
          <p:nvPicPr>
            <p:cNvPr id="16" name="Imagen 25" descr="Diagrama, Dibujo de ingeniería&#10;&#10;El contenido generado por IA puede ser incorrecto.">
              <a:extLst>
                <a:ext uri="{FF2B5EF4-FFF2-40B4-BE49-F238E27FC236}">
                  <a16:creationId xmlns:a16="http://schemas.microsoft.com/office/drawing/2014/main" id="{115058F1-9BE9-6D37-1205-C6DBD0650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7600" y="522409"/>
              <a:ext cx="4139263" cy="2690521"/>
            </a:xfrm>
            <a:prstGeom prst="rect">
              <a:avLst/>
            </a:prstGeom>
          </p:spPr>
        </p:pic>
        <p:sp>
          <p:nvSpPr>
            <p:cNvPr id="17" name="CuadroTexto 26">
              <a:extLst>
                <a:ext uri="{FF2B5EF4-FFF2-40B4-BE49-F238E27FC236}">
                  <a16:creationId xmlns:a16="http://schemas.microsoft.com/office/drawing/2014/main" id="{593225AB-2175-43F9-4F19-F2C1074FB674}"/>
                </a:ext>
              </a:extLst>
            </p:cNvPr>
            <p:cNvSpPr txBox="1"/>
            <p:nvPr/>
          </p:nvSpPr>
          <p:spPr>
            <a:xfrm>
              <a:off x="8556498" y="3171750"/>
              <a:ext cx="192713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800" dirty="0"/>
                <a:t>C. </a:t>
              </a:r>
              <a:r>
                <a:rPr lang="es-ES" sz="800" dirty="0" err="1"/>
                <a:t>Brennen</a:t>
              </a:r>
              <a:r>
                <a:rPr lang="es-ES" sz="800" dirty="0"/>
                <a:t>, </a:t>
              </a:r>
              <a:r>
                <a:rPr lang="es-ES" sz="800" dirty="0" err="1"/>
                <a:t>Hydrodynamics</a:t>
              </a:r>
              <a:r>
                <a:rPr lang="es-ES" sz="800" dirty="0"/>
                <a:t> </a:t>
              </a:r>
              <a:r>
                <a:rPr lang="es-ES" sz="800" dirty="0" err="1"/>
                <a:t>of</a:t>
              </a:r>
              <a:r>
                <a:rPr lang="es-ES" sz="800" dirty="0"/>
                <a:t> </a:t>
              </a:r>
              <a:r>
                <a:rPr lang="es-ES" sz="800" dirty="0" err="1"/>
                <a:t>pumps</a:t>
              </a:r>
              <a:endParaRPr lang="es-ES" sz="800" dirty="0"/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07640097-D57B-2892-8A2C-D612F4EBA72C}"/>
                </a:ext>
              </a:extLst>
            </p:cNvPr>
            <p:cNvSpPr txBox="1"/>
            <p:nvPr/>
          </p:nvSpPr>
          <p:spPr>
            <a:xfrm>
              <a:off x="9013698" y="407708"/>
              <a:ext cx="12298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100" dirty="0" err="1"/>
                <a:t>Àleps</a:t>
              </a:r>
              <a:r>
                <a:rPr lang="es-ES" sz="1100" dirty="0"/>
                <a:t> regulables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9749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78481" y="989309"/>
            <a:ext cx="6522635" cy="246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3.1.2.5 ASSOCIACIÓ DE BOMBES EN SERIE</a:t>
            </a:r>
          </a:p>
          <a:p>
            <a:pPr lvl="0"/>
            <a:endParaRPr lang="es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sz="2400" dirty="0"/>
              <a:t>Amb aquesta opció es busca augmentar la altura d’elevació respecte a la configuració inicial</a:t>
            </a:r>
          </a:p>
          <a:p>
            <a:pPr lvl="0"/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06F62462-92D5-4364-89AD-9A36A8BF10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692" t="57604" r="59345" b="8796"/>
          <a:stretch/>
        </p:blipFill>
        <p:spPr>
          <a:xfrm>
            <a:off x="2566880" y="3024944"/>
            <a:ext cx="3609024" cy="3331406"/>
          </a:xfrm>
          <a:prstGeom prst="rect">
            <a:avLst/>
          </a:prstGeom>
        </p:spPr>
      </p:pic>
      <p:grpSp>
        <p:nvGrpSpPr>
          <p:cNvPr id="45" name="Group 21">
            <a:extLst>
              <a:ext uri="{FF2B5EF4-FFF2-40B4-BE49-F238E27FC236}">
                <a16:creationId xmlns:a16="http://schemas.microsoft.com/office/drawing/2014/main" id="{15971F95-B456-44C3-8899-DC79504215FD}"/>
              </a:ext>
            </a:extLst>
          </p:cNvPr>
          <p:cNvGrpSpPr>
            <a:grpSpLocks/>
          </p:cNvGrpSpPr>
          <p:nvPr/>
        </p:nvGrpSpPr>
        <p:grpSpPr bwMode="auto">
          <a:xfrm>
            <a:off x="6944208" y="3385312"/>
            <a:ext cx="1981200" cy="457200"/>
            <a:chOff x="3840" y="2832"/>
            <a:chExt cx="1248" cy="288"/>
          </a:xfrm>
        </p:grpSpPr>
        <p:sp>
          <p:nvSpPr>
            <p:cNvPr id="46" name="Line 6">
              <a:extLst>
                <a:ext uri="{FF2B5EF4-FFF2-40B4-BE49-F238E27FC236}">
                  <a16:creationId xmlns:a16="http://schemas.microsoft.com/office/drawing/2014/main" id="{650722BA-5826-4C72-9C90-B49376C29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97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a-ES" sz="2800"/>
            </a:p>
          </p:txBody>
        </p:sp>
        <p:sp>
          <p:nvSpPr>
            <p:cNvPr id="47" name="Oval 7">
              <a:extLst>
                <a:ext uri="{FF2B5EF4-FFF2-40B4-BE49-F238E27FC236}">
                  <a16:creationId xmlns:a16="http://schemas.microsoft.com/office/drawing/2014/main" id="{A5E39E9E-3FAF-4329-963D-13296D292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832"/>
              <a:ext cx="288" cy="28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s-ES" altLang="es-ES" sz="2800"/>
            </a:p>
          </p:txBody>
        </p:sp>
        <p:sp>
          <p:nvSpPr>
            <p:cNvPr id="48" name="Line 8">
              <a:extLst>
                <a:ext uri="{FF2B5EF4-FFF2-40B4-BE49-F238E27FC236}">
                  <a16:creationId xmlns:a16="http://schemas.microsoft.com/office/drawing/2014/main" id="{81540EDD-AED9-490E-B3DC-F1F85C800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29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a-ES" sz="2800"/>
            </a:p>
          </p:txBody>
        </p:sp>
        <p:sp>
          <p:nvSpPr>
            <p:cNvPr id="49" name="AutoShape 10">
              <a:extLst>
                <a:ext uri="{FF2B5EF4-FFF2-40B4-BE49-F238E27FC236}">
                  <a16:creationId xmlns:a16="http://schemas.microsoft.com/office/drawing/2014/main" id="{5397ABAE-05C4-442B-9B29-37CCFAD587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512" y="2928"/>
              <a:ext cx="96" cy="96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s-ES" altLang="es-ES" sz="2800"/>
            </a:p>
          </p:txBody>
        </p:sp>
      </p:grpSp>
      <p:sp>
        <p:nvSpPr>
          <p:cNvPr id="50" name="Oval 7">
            <a:extLst>
              <a:ext uri="{FF2B5EF4-FFF2-40B4-BE49-F238E27FC236}">
                <a16:creationId xmlns:a16="http://schemas.microsoft.com/office/drawing/2014/main" id="{D594612F-0ED7-44A5-AC55-5A6CF171F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5408" y="3385312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s-ES" altLang="es-ES" sz="2800"/>
          </a:p>
        </p:txBody>
      </p:sp>
      <p:sp>
        <p:nvSpPr>
          <p:cNvPr id="51" name="AutoShape 10">
            <a:extLst>
              <a:ext uri="{FF2B5EF4-FFF2-40B4-BE49-F238E27FC236}">
                <a16:creationId xmlns:a16="http://schemas.microsoft.com/office/drawing/2014/main" id="{BF650E62-76AC-4EE7-BFB7-096387FD21C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9154008" y="3537712"/>
            <a:ext cx="152400" cy="152400"/>
          </a:xfrm>
          <a:prstGeom prst="flowChartExtra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s-ES" altLang="es-ES" sz="2800"/>
          </a:p>
        </p:txBody>
      </p:sp>
      <p:sp>
        <p:nvSpPr>
          <p:cNvPr id="52" name="Line 6">
            <a:extLst>
              <a:ext uri="{FF2B5EF4-FFF2-40B4-BE49-F238E27FC236}">
                <a16:creationId xmlns:a16="http://schemas.microsoft.com/office/drawing/2014/main" id="{0D04F65E-3F5B-4A0A-90C7-5D2B233C5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396336" y="3618594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 sz="280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160BE67-BEAF-4003-A0DE-9233276D2FEB}"/>
              </a:ext>
            </a:extLst>
          </p:cNvPr>
          <p:cNvSpPr txBox="1"/>
          <p:nvPr/>
        </p:nvSpPr>
        <p:spPr>
          <a:xfrm>
            <a:off x="7789272" y="2952288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 dirty="0"/>
              <a:t>A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11A063E-AD40-4987-8056-DB6052E458FE}"/>
              </a:ext>
            </a:extLst>
          </p:cNvPr>
          <p:cNvSpPr txBox="1"/>
          <p:nvPr/>
        </p:nvSpPr>
        <p:spPr>
          <a:xfrm>
            <a:off x="9001608" y="2981482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2A1835E8-C06C-41C4-997C-D85C03CB3D72}"/>
                  </a:ext>
                </a:extLst>
              </p:cNvPr>
              <p:cNvSpPr txBox="1"/>
              <p:nvPr/>
            </p:nvSpPr>
            <p:spPr>
              <a:xfrm>
                <a:off x="7674147" y="4305021"/>
                <a:ext cx="25025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ca-ES" sz="2800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2A1835E8-C06C-41C4-997C-D85C03CB3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147" y="4305021"/>
                <a:ext cx="25025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34DFC09D-6D61-44ED-BABF-269A1E317DE7}"/>
                  </a:ext>
                </a:extLst>
              </p:cNvPr>
              <p:cNvSpPr txBox="1"/>
              <p:nvPr/>
            </p:nvSpPr>
            <p:spPr>
              <a:xfrm>
                <a:off x="7284313" y="4795230"/>
                <a:ext cx="34492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𝑇𝑂𝑇</m:t>
                          </m:r>
                        </m:sub>
                      </m:sSub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ca-ES" sz="2800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34DFC09D-6D61-44ED-BABF-269A1E317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4313" y="4795230"/>
                <a:ext cx="34492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21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3.1 REGULACIÓ EN CIRCUITS DE BOMBEIG</a:t>
            </a:r>
            <a:endParaRPr sz="36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2" name="Imagen 5"/>
          <p:cNvPicPr>
            <a:picLocks noChangeAspect="1"/>
          </p:cNvPicPr>
          <p:nvPr/>
        </p:nvPicPr>
        <p:blipFill rotWithShape="1">
          <a:blip r:embed="rId4"/>
          <a:srcRect l="29152" t="14700" r="58424" b="62200"/>
          <a:stretch/>
        </p:blipFill>
        <p:spPr>
          <a:xfrm>
            <a:off x="6866313" y="883880"/>
            <a:ext cx="5325687" cy="3254587"/>
          </a:xfrm>
          <a:prstGeom prst="rect">
            <a:avLst/>
          </a:prstGeom>
        </p:spPr>
      </p:pic>
      <p:sp>
        <p:nvSpPr>
          <p:cNvPr id="115" name="Google Shape;115;p3"/>
          <p:cNvSpPr txBox="1"/>
          <p:nvPr/>
        </p:nvSpPr>
        <p:spPr>
          <a:xfrm>
            <a:off x="343678" y="877824"/>
            <a:ext cx="6522635" cy="357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3.1.2.5 ASSOCIACIÓ DE BOMBES EN PARAL·LEL</a:t>
            </a:r>
          </a:p>
          <a:p>
            <a:pPr lvl="0"/>
            <a:endParaRPr lang="es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Amb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aquesta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opció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es busca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augmentar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el cabal del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circuit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respecte a la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configuració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inicial. Per a cada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alçada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es sumen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els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cabals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</a:p>
          <a:p>
            <a:pPr lvl="0"/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permet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tenir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una bomba de reserva, en cas que alguna de les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dues</a:t>
            </a:r>
            <a:r>
              <a:rPr lang="es-ES" sz="2400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s-ES" sz="2400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falli</a:t>
            </a:r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endParaRPr lang="es-ES" sz="24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8510326" y="3991642"/>
            <a:ext cx="3177913" cy="1664418"/>
            <a:chOff x="5609827" y="2204864"/>
            <a:chExt cx="3177913" cy="1664418"/>
          </a:xfrm>
        </p:grpSpPr>
        <p:grpSp>
          <p:nvGrpSpPr>
            <p:cNvPr id="20" name="Group 21"/>
            <p:cNvGrpSpPr>
              <a:grpSpLocks/>
            </p:cNvGrpSpPr>
            <p:nvPr/>
          </p:nvGrpSpPr>
          <p:grpSpPr bwMode="auto">
            <a:xfrm>
              <a:off x="6448027" y="2482635"/>
              <a:ext cx="457200" cy="457200"/>
              <a:chOff x="4752" y="2844"/>
              <a:chExt cx="288" cy="288"/>
            </a:xfrm>
          </p:grpSpPr>
          <p:sp>
            <p:nvSpPr>
              <p:cNvPr id="38" name="Oval 7"/>
              <p:cNvSpPr>
                <a:spLocks noChangeArrowheads="1"/>
              </p:cNvSpPr>
              <p:nvPr/>
            </p:nvSpPr>
            <p:spPr bwMode="auto">
              <a:xfrm>
                <a:off x="4752" y="2844"/>
                <a:ext cx="288" cy="2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s-ES" altLang="es-ES"/>
              </a:p>
            </p:txBody>
          </p:sp>
          <p:sp>
            <p:nvSpPr>
              <p:cNvPr id="39" name="AutoShape 10"/>
              <p:cNvSpPr>
                <a:spLocks noChangeArrowheads="1"/>
              </p:cNvSpPr>
              <p:nvPr/>
            </p:nvSpPr>
            <p:spPr bwMode="auto">
              <a:xfrm rot="5400000">
                <a:off x="4896" y="2940"/>
                <a:ext cx="96" cy="96"/>
              </a:xfrm>
              <a:prstGeom prst="flowChartExtra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es-ES" altLang="es-ES"/>
              </a:p>
            </p:txBody>
          </p:sp>
        </p:grpSp>
        <p:sp>
          <p:nvSpPr>
            <p:cNvPr id="21" name="Oval 7"/>
            <p:cNvSpPr>
              <a:spLocks noChangeArrowheads="1"/>
            </p:cNvSpPr>
            <p:nvPr/>
          </p:nvSpPr>
          <p:spPr bwMode="auto">
            <a:xfrm>
              <a:off x="6448027" y="3119992"/>
              <a:ext cx="457200" cy="457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s-ES" altLang="es-ES"/>
            </a:p>
          </p:txBody>
        </p:sp>
        <p:sp>
          <p:nvSpPr>
            <p:cNvPr id="22" name="Line 6"/>
            <p:cNvSpPr>
              <a:spLocks noChangeShapeType="1"/>
            </p:cNvSpPr>
            <p:nvPr/>
          </p:nvSpPr>
          <p:spPr bwMode="auto">
            <a:xfrm>
              <a:off x="5609827" y="2745998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a-ES"/>
            </a:p>
          </p:txBody>
        </p:sp>
        <p:sp>
          <p:nvSpPr>
            <p:cNvPr id="24" name="AutoShape 10"/>
            <p:cNvSpPr>
              <a:spLocks noChangeArrowheads="1"/>
            </p:cNvSpPr>
            <p:nvPr/>
          </p:nvSpPr>
          <p:spPr bwMode="auto">
            <a:xfrm rot="5400000">
              <a:off x="6676627" y="3272392"/>
              <a:ext cx="152400" cy="152400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s-ES" altLang="es-ES"/>
            </a:p>
          </p:txBody>
        </p:sp>
        <p:cxnSp>
          <p:nvCxnSpPr>
            <p:cNvPr id="25" name="Conector recto 20"/>
            <p:cNvCxnSpPr/>
            <p:nvPr/>
          </p:nvCxnSpPr>
          <p:spPr bwMode="auto">
            <a:xfrm>
              <a:off x="6012160" y="2745998"/>
              <a:ext cx="0" cy="6248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Conector recto 22"/>
            <p:cNvCxnSpPr>
              <a:stCxn id="21" idx="2"/>
            </p:cNvCxnSpPr>
            <p:nvPr/>
          </p:nvCxnSpPr>
          <p:spPr bwMode="auto">
            <a:xfrm flipH="1">
              <a:off x="6012160" y="3348592"/>
              <a:ext cx="435867" cy="2230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Conector recto 28"/>
            <p:cNvCxnSpPr>
              <a:stCxn id="21" idx="6"/>
            </p:cNvCxnSpPr>
            <p:nvPr/>
          </p:nvCxnSpPr>
          <p:spPr bwMode="auto">
            <a:xfrm>
              <a:off x="6905227" y="3348592"/>
              <a:ext cx="40307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Conector recto 30"/>
            <p:cNvCxnSpPr>
              <a:stCxn id="39" idx="0"/>
            </p:cNvCxnSpPr>
            <p:nvPr/>
          </p:nvCxnSpPr>
          <p:spPr bwMode="auto">
            <a:xfrm>
              <a:off x="6829027" y="2711235"/>
              <a:ext cx="1618964" cy="3476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CuadroTexto 31"/>
            <p:cNvSpPr txBox="1"/>
            <p:nvPr/>
          </p:nvSpPr>
          <p:spPr>
            <a:xfrm>
              <a:off x="6553200" y="2204864"/>
              <a:ext cx="323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dirty="0"/>
                <a:t>A</a:t>
              </a:r>
            </a:p>
          </p:txBody>
        </p:sp>
        <p:sp>
          <p:nvSpPr>
            <p:cNvPr id="30" name="CuadroTexto 33"/>
            <p:cNvSpPr txBox="1"/>
            <p:nvPr/>
          </p:nvSpPr>
          <p:spPr>
            <a:xfrm>
              <a:off x="6578178" y="3499950"/>
              <a:ext cx="3230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a-ES" dirty="0"/>
                <a:t>B</a:t>
              </a:r>
            </a:p>
          </p:txBody>
        </p:sp>
        <p:cxnSp>
          <p:nvCxnSpPr>
            <p:cNvPr id="31" name="Conector recto 34"/>
            <p:cNvCxnSpPr/>
            <p:nvPr/>
          </p:nvCxnSpPr>
          <p:spPr bwMode="auto">
            <a:xfrm flipV="1">
              <a:off x="7308304" y="2745998"/>
              <a:ext cx="0" cy="61374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5"/>
                <p:cNvSpPr txBox="1"/>
                <p:nvPr/>
              </p:nvSpPr>
              <p:spPr>
                <a:xfrm>
                  <a:off x="7316984" y="2265703"/>
                  <a:ext cx="14707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ca-ES" dirty="0"/>
                </a:p>
              </p:txBody>
            </p:sp>
          </mc:Choice>
          <mc:Fallback xmlns="">
            <p:sp>
              <p:nvSpPr>
                <p:cNvPr id="32" name="CuadroTexto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984" y="2265703"/>
                  <a:ext cx="147075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Conector recto de flecha 37"/>
            <p:cNvCxnSpPr/>
            <p:nvPr/>
          </p:nvCxnSpPr>
          <p:spPr bwMode="auto">
            <a:xfrm>
              <a:off x="7638509" y="2667219"/>
              <a:ext cx="63056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7BBD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Conector recto de flecha 39"/>
            <p:cNvCxnSpPr/>
            <p:nvPr/>
          </p:nvCxnSpPr>
          <p:spPr bwMode="auto">
            <a:xfrm>
              <a:off x="6372290" y="2980159"/>
              <a:ext cx="63056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7BBD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Conector recto de flecha 40"/>
            <p:cNvCxnSpPr/>
            <p:nvPr/>
          </p:nvCxnSpPr>
          <p:spPr bwMode="auto">
            <a:xfrm>
              <a:off x="6437545" y="3573203"/>
              <a:ext cx="630563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007BBD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ángulo 38"/>
                <p:cNvSpPr/>
                <p:nvPr/>
              </p:nvSpPr>
              <p:spPr>
                <a:xfrm>
                  <a:off x="6020525" y="2751369"/>
                  <a:ext cx="52039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ca-ES" dirty="0"/>
                </a:p>
              </p:txBody>
            </p:sp>
          </mc:Choice>
          <mc:Fallback xmlns="">
            <p:sp>
              <p:nvSpPr>
                <p:cNvPr id="36" name="Rectángulo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0525" y="2751369"/>
                  <a:ext cx="52039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ángulo 42"/>
                <p:cNvSpPr/>
                <p:nvPr/>
              </p:nvSpPr>
              <p:spPr>
                <a:xfrm>
                  <a:off x="6076303" y="3446054"/>
                  <a:ext cx="56169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ca-ES" dirty="0"/>
                </a:p>
              </p:txBody>
            </p:sp>
          </mc:Choice>
          <mc:Fallback xmlns="">
            <p:sp>
              <p:nvSpPr>
                <p:cNvPr id="37" name="Rectángulo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76303" y="3446054"/>
                  <a:ext cx="56169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29"/>
              <p:cNvSpPr txBox="1"/>
              <p:nvPr/>
            </p:nvSpPr>
            <p:spPr>
              <a:xfrm>
                <a:off x="1317784" y="4084665"/>
                <a:ext cx="37363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𝑐𝑖𝑟𝑐𝑢𝑖𝑡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40" name="CuadroTex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784" y="4084665"/>
                <a:ext cx="3736354" cy="461665"/>
              </a:xfrm>
              <a:prstGeom prst="rect">
                <a:avLst/>
              </a:prstGeom>
              <a:blipFill>
                <a:blip r:embed="rId8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32"/>
              <p:cNvSpPr txBox="1"/>
              <p:nvPr/>
            </p:nvSpPr>
            <p:spPr>
              <a:xfrm>
                <a:off x="1238790" y="4575164"/>
                <a:ext cx="31326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ca-ES" sz="2400" dirty="0"/>
              </a:p>
            </p:txBody>
          </p:sp>
        </mc:Choice>
        <mc:Fallback xmlns="">
          <p:sp>
            <p:nvSpPr>
              <p:cNvPr id="41" name="CuadroTexto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790" y="4575164"/>
                <a:ext cx="3132602" cy="461665"/>
              </a:xfrm>
              <a:prstGeom prst="rect">
                <a:avLst/>
              </a:prstGeom>
              <a:blipFill>
                <a:blip r:embed="rId9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8988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3.2 </a:t>
            </a:r>
            <a:r>
              <a:rPr lang="fr-FR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EXEMPLES I LLIURABLES.</a:t>
            </a: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3600" dirty="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7950" y="1050474"/>
            <a:ext cx="11211014" cy="195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ca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1.  Sistemes de regulació i càlcul de punt de funcionament</a:t>
            </a:r>
          </a:p>
          <a:p>
            <a:pPr lvl="0"/>
            <a:endParaRPr lang="ca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endParaRPr lang="ca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269875"/>
            <a:r>
              <a:rPr lang="ca-ES" sz="1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 circuit hidràulic te les següents característiques</a:t>
            </a: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" name="45 Imagen">
            <a:extLst>
              <a:ext uri="{FF2B5EF4-FFF2-40B4-BE49-F238E27FC236}">
                <a16:creationId xmlns:a16="http://schemas.microsoft.com/office/drawing/2014/main" id="{23D78985-8354-7F3B-C6C8-1323501EA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983" y="2095238"/>
            <a:ext cx="3991017" cy="3355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DD0D4AF-D786-D1A3-3C3C-979C735A6109}"/>
              </a:ext>
            </a:extLst>
          </p:cNvPr>
          <p:cNvSpPr/>
          <p:nvPr/>
        </p:nvSpPr>
        <p:spPr bwMode="auto">
          <a:xfrm>
            <a:off x="1415480" y="4906486"/>
            <a:ext cx="504056" cy="2446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CC5C4B6-8EB5-E797-8D7B-457CA3429209}"/>
              </a:ext>
            </a:extLst>
          </p:cNvPr>
          <p:cNvSpPr/>
          <p:nvPr/>
        </p:nvSpPr>
        <p:spPr bwMode="auto">
          <a:xfrm>
            <a:off x="2135560" y="4395995"/>
            <a:ext cx="828092" cy="68508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10B3E66-EA17-0B02-CE0D-44DD87702C61}"/>
              </a:ext>
            </a:extLst>
          </p:cNvPr>
          <p:cNvSpPr/>
          <p:nvPr/>
        </p:nvSpPr>
        <p:spPr bwMode="auto">
          <a:xfrm>
            <a:off x="3450053" y="3998999"/>
            <a:ext cx="792088" cy="7920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84B0E26-A07E-1D80-8BAB-C8FA074B666E}"/>
              </a:ext>
            </a:extLst>
          </p:cNvPr>
          <p:cNvSpPr/>
          <p:nvPr/>
        </p:nvSpPr>
        <p:spPr bwMode="auto">
          <a:xfrm>
            <a:off x="3589781" y="4642879"/>
            <a:ext cx="693347" cy="2964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27AC3D-912D-3F9E-9275-495520D353D3}"/>
              </a:ext>
            </a:extLst>
          </p:cNvPr>
          <p:cNvSpPr/>
          <p:nvPr/>
        </p:nvSpPr>
        <p:spPr bwMode="auto">
          <a:xfrm>
            <a:off x="3667217" y="5124980"/>
            <a:ext cx="346674" cy="32543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1F5A95-566B-DD6C-27C6-108823F0C2B6}"/>
              </a:ext>
            </a:extLst>
          </p:cNvPr>
          <p:cNvSpPr txBox="1"/>
          <p:nvPr/>
        </p:nvSpPr>
        <p:spPr>
          <a:xfrm>
            <a:off x="2767603" y="5133622"/>
            <a:ext cx="7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6AFAE2-78A1-8A61-E3A4-48BDAAF7E31E}"/>
              </a:ext>
            </a:extLst>
          </p:cNvPr>
          <p:cNvSpPr txBox="1"/>
          <p:nvPr/>
        </p:nvSpPr>
        <p:spPr>
          <a:xfrm>
            <a:off x="3626272" y="5093645"/>
            <a:ext cx="7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F32426-8E36-46D3-AB32-F4790673B8BC}"/>
              </a:ext>
            </a:extLst>
          </p:cNvPr>
          <p:cNvSpPr txBox="1"/>
          <p:nvPr/>
        </p:nvSpPr>
        <p:spPr>
          <a:xfrm>
            <a:off x="4583832" y="3814333"/>
            <a:ext cx="7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L3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637F0AC-33A6-8424-AF9D-0FE49505655F}"/>
              </a:ext>
            </a:extLst>
          </p:cNvPr>
          <p:cNvSpPr/>
          <p:nvPr/>
        </p:nvSpPr>
        <p:spPr bwMode="auto">
          <a:xfrm>
            <a:off x="4135513" y="4719079"/>
            <a:ext cx="540997" cy="5040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99B1A17-7A86-4D55-823A-5E7E17A2F9AD}"/>
              </a:ext>
            </a:extLst>
          </p:cNvPr>
          <p:cNvSpPr/>
          <p:nvPr/>
        </p:nvSpPr>
        <p:spPr bwMode="auto">
          <a:xfrm>
            <a:off x="4724427" y="2757327"/>
            <a:ext cx="540997" cy="504056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16EFDC2-72F8-6AAC-DED1-3E12EC1689CE}"/>
              </a:ext>
            </a:extLst>
          </p:cNvPr>
          <p:cNvSpPr txBox="1"/>
          <p:nvPr/>
        </p:nvSpPr>
        <p:spPr>
          <a:xfrm>
            <a:off x="4469370" y="5010050"/>
            <a:ext cx="7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DBBF53C-D1C3-28C7-8B6E-7416BCEED8E8}"/>
              </a:ext>
            </a:extLst>
          </p:cNvPr>
          <p:cNvSpPr txBox="1"/>
          <p:nvPr/>
        </p:nvSpPr>
        <p:spPr>
          <a:xfrm>
            <a:off x="4370012" y="2501633"/>
            <a:ext cx="7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D4A4157-537A-5824-8A53-4607C070F79B}"/>
              </a:ext>
            </a:extLst>
          </p:cNvPr>
          <p:cNvSpPr/>
          <p:nvPr/>
        </p:nvSpPr>
        <p:spPr bwMode="auto">
          <a:xfrm>
            <a:off x="5216206" y="2373516"/>
            <a:ext cx="828092" cy="68508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50924FD-2C7A-254F-A40A-7D47591BC621}"/>
              </a:ext>
            </a:extLst>
          </p:cNvPr>
          <p:cNvSpPr txBox="1"/>
          <p:nvPr/>
        </p:nvSpPr>
        <p:spPr>
          <a:xfrm>
            <a:off x="443618" y="5630464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L1=300m, L2=695m, L3=3500m, k1=4.455, k2=4.455</a:t>
            </a:r>
          </a:p>
          <a:p>
            <a:pPr algn="l"/>
            <a:r>
              <a:rPr lang="en-GB" dirty="0"/>
              <a:t>D=0.9m, f=0.03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DF7CF5F-E86E-D715-30B7-3B8B174DE4A5}"/>
                  </a:ext>
                </a:extLst>
              </p:cNvPr>
              <p:cNvSpPr txBox="1"/>
              <p:nvPr/>
            </p:nvSpPr>
            <p:spPr>
              <a:xfrm>
                <a:off x="1479012" y="3951869"/>
                <a:ext cx="1254181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</m:oMath>
                </a14:m>
                <a:r>
                  <a:rPr lang="en-GB" dirty="0"/>
                  <a:t>=10m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DF7CF5F-E86E-D715-30B7-3B8B174DE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012" y="3951869"/>
                <a:ext cx="1254181" cy="391582"/>
              </a:xfrm>
              <a:prstGeom prst="rect">
                <a:avLst/>
              </a:prstGeom>
              <a:blipFill>
                <a:blip r:embed="rId5"/>
                <a:stretch>
                  <a:fillRect t="-1538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A53DE27-6A25-727A-8AE1-997C6D62C61E}"/>
                  </a:ext>
                </a:extLst>
              </p:cNvPr>
              <p:cNvSpPr txBox="1"/>
              <p:nvPr/>
            </p:nvSpPr>
            <p:spPr>
              <a:xfrm>
                <a:off x="6089619" y="2003514"/>
                <a:ext cx="1254181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𝑠𝑢𝑝</m:t>
                        </m:r>
                      </m:sub>
                    </m:sSub>
                  </m:oMath>
                </a14:m>
                <a:r>
                  <a:rPr lang="en-GB" dirty="0"/>
                  <a:t>=30m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A53DE27-6A25-727A-8AE1-997C6D62C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619" y="2003514"/>
                <a:ext cx="1254181" cy="390748"/>
              </a:xfrm>
              <a:prstGeom prst="rect">
                <a:avLst/>
              </a:prstGeom>
              <a:blipFill>
                <a:blip r:embed="rId6"/>
                <a:stretch>
                  <a:fillRect t="-3125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F328182-3E82-4AAE-D0B7-20C1CDEF85F8}"/>
                  </a:ext>
                </a:extLst>
              </p:cNvPr>
              <p:cNvSpPr txBox="1"/>
              <p:nvPr/>
            </p:nvSpPr>
            <p:spPr>
              <a:xfrm>
                <a:off x="2918615" y="4510883"/>
                <a:ext cx="12541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GB" dirty="0"/>
                  <a:t>= 5m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5F328182-3E82-4AAE-D0B7-20C1CDEF8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615" y="4510883"/>
                <a:ext cx="1254181" cy="369332"/>
              </a:xfrm>
              <a:prstGeom prst="rect">
                <a:avLst/>
              </a:prstGeom>
              <a:blipFill>
                <a:blip r:embed="rId7"/>
                <a:stretch>
                  <a:fillRect t="-3279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73A085AB-0099-43F7-7945-228FD1467D54}"/>
              </a:ext>
            </a:extLst>
          </p:cNvPr>
          <p:cNvCxnSpPr/>
          <p:nvPr/>
        </p:nvCxnSpPr>
        <p:spPr bwMode="auto">
          <a:xfrm flipV="1">
            <a:off x="4676510" y="4880215"/>
            <a:ext cx="987442" cy="26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AD7FDA2-6900-623A-4476-46BB230B7830}"/>
              </a:ext>
            </a:extLst>
          </p:cNvPr>
          <p:cNvCxnSpPr/>
          <p:nvPr/>
        </p:nvCxnSpPr>
        <p:spPr bwMode="auto">
          <a:xfrm>
            <a:off x="5211152" y="3261383"/>
            <a:ext cx="452800" cy="15297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5DE0BC8-92A4-B030-A6A4-C4CF460A25BF}"/>
                  </a:ext>
                </a:extLst>
              </p:cNvPr>
              <p:cNvSpPr txBox="1"/>
              <p:nvPr/>
            </p:nvSpPr>
            <p:spPr>
              <a:xfrm>
                <a:off x="5399798" y="4492241"/>
                <a:ext cx="1368152" cy="696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5DE0BC8-92A4-B030-A6A4-C4CF460A2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98" y="4492241"/>
                <a:ext cx="1368152" cy="6967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>
            <a:extLst>
              <a:ext uri="{FF2B5EF4-FFF2-40B4-BE49-F238E27FC236}">
                <a16:creationId xmlns:a16="http://schemas.microsoft.com/office/drawing/2014/main" id="{E76DF10F-5EC3-4620-4A2B-869FCC6D3A8B}"/>
              </a:ext>
            </a:extLst>
          </p:cNvPr>
          <p:cNvSpPr txBox="1"/>
          <p:nvPr/>
        </p:nvSpPr>
        <p:spPr>
          <a:xfrm>
            <a:off x="7264400" y="3554169"/>
            <a:ext cx="4229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1) Calcular la corba resistent del circuit</a:t>
            </a:r>
          </a:p>
        </p:txBody>
      </p:sp>
    </p:spTree>
    <p:extLst>
      <p:ext uri="{BB962C8B-B14F-4D97-AF65-F5344CB8AC3E}">
        <p14:creationId xmlns:p14="http://schemas.microsoft.com/office/powerpoint/2010/main" val="84167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3.2 </a:t>
            </a:r>
            <a:r>
              <a:rPr lang="fr-FR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EXEMPLES I LLIURABLES.</a:t>
            </a: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3600" dirty="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7950" y="1050474"/>
            <a:ext cx="11211014" cy="1954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ca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1.  Sistemes de regulació i càlcul de punt de funcionament</a:t>
            </a:r>
          </a:p>
          <a:p>
            <a:pPr lvl="0"/>
            <a:endParaRPr lang="ca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lvl="0"/>
            <a:endParaRPr lang="ca-ES" sz="105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269875"/>
            <a:r>
              <a:rPr lang="ca-ES" sz="1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 la bomba es coneix la corba proporcionada pel fabricant</a:t>
            </a: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76DF10F-5EC3-4620-4A2B-869FCC6D3A8B}"/>
                  </a:ext>
                </a:extLst>
              </p:cNvPr>
              <p:cNvSpPr txBox="1"/>
              <p:nvPr/>
            </p:nvSpPr>
            <p:spPr>
              <a:xfrm>
                <a:off x="7962900" y="3447875"/>
                <a:ext cx="4229100" cy="541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a-ES" dirty="0"/>
                  <a:t>2) Aproximar la corba de la bomba a una funció analítica de segon grau tipus </a:t>
                </a:r>
                <a:r>
                  <a:rPr lang="ca-ES" dirty="0" err="1"/>
                  <a:t>Hb</a:t>
                </a:r>
                <a:r>
                  <a:rPr lang="ca-ES" dirty="0"/>
                  <a:t>=A-B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ca-ES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E76DF10F-5EC3-4620-4A2B-869FCC6D3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900" y="3447875"/>
                <a:ext cx="4229100" cy="541623"/>
              </a:xfrm>
              <a:prstGeom prst="rect">
                <a:avLst/>
              </a:prstGeom>
              <a:blipFill>
                <a:blip r:embed="rId4"/>
                <a:stretch>
                  <a:fillRect l="-432" t="-2273" b="-7955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Gráfico 23">
            <a:extLst>
              <a:ext uri="{FF2B5EF4-FFF2-40B4-BE49-F238E27FC236}">
                <a16:creationId xmlns:a16="http://schemas.microsoft.com/office/drawing/2014/main" id="{937EBB7B-87E5-0A8B-AA53-063E95A30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0306875"/>
              </p:ext>
            </p:extLst>
          </p:nvPr>
        </p:nvGraphicFramePr>
        <p:xfrm>
          <a:off x="273050" y="2273300"/>
          <a:ext cx="7327900" cy="4003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7309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3.2 </a:t>
            </a:r>
            <a:r>
              <a:rPr lang="fr-FR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EXEMPLES I LLIURABLES.</a:t>
            </a: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3600" dirty="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Google Shape;115;p3"/>
              <p:cNvSpPr txBox="1"/>
              <p:nvPr/>
            </p:nvSpPr>
            <p:spPr>
              <a:xfrm>
                <a:off x="107950" y="1050474"/>
                <a:ext cx="11211014" cy="58385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ca-ES" sz="2800" b="1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1.  Sistemes de regulació i càlcul de punt de funcionament</a:t>
                </a:r>
              </a:p>
              <a:p>
                <a:pPr lvl="0"/>
                <a:endParaRPr lang="ca-ES" sz="1050" b="1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lvl="0"/>
                <a:endParaRPr lang="ca-ES" sz="1050" b="1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968375" lvl="0" indent="-342900">
                  <a:buAutoNum type="arabicParenR"/>
                </a:pPr>
                <a:r>
                  <a:rPr lang="ca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Calcular el punt de funcionament de la bomba en el circuit</a:t>
                </a:r>
              </a:p>
              <a:p>
                <a:pPr marL="968375" lvl="0" indent="-342900">
                  <a:buAutoNum type="arabicParenR"/>
                </a:pPr>
                <a:r>
                  <a:rPr lang="ca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Quin es el cost energètic d’operar el circuit durant un any assumint 1600h d’operació i un preu d’energia de 0.16€/kWh? Assumim que el rendiment global serà del 0.75</a:t>
                </a:r>
              </a:p>
              <a:p>
                <a:pPr marL="968375" lvl="0" indent="-342900">
                  <a:buAutoNum type="arabicParenR"/>
                </a:pPr>
                <a:endParaRPr lang="ca-ES" sz="1800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625475" lvl="0"/>
                <a:r>
                  <a:rPr lang="ca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Calcular el punt de funcionament quan:</a:t>
                </a:r>
              </a:p>
              <a:p>
                <a:pPr marL="625475" lvl="0"/>
                <a:endParaRPr lang="ca-ES" sz="1800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968375" lvl="0" indent="-342900">
                  <a:buAutoNum type="alphaLcParenR"/>
                </a:pPr>
                <a:r>
                  <a:rPr lang="ca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S’incrementa la velocitat de la bomba un 50%</a:t>
                </a:r>
              </a:p>
              <a:p>
                <a:pPr marL="968375" lvl="0" indent="-342900">
                  <a:buAutoNum type="alphaLcParenR"/>
                </a:pPr>
                <a:r>
                  <a:rPr lang="ca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S’adquireix una bomba amb un diàmetre de 3 m (</a:t>
                </a:r>
                <a:r>
                  <a:rPr lang="ca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Lliurable</a:t>
                </a:r>
                <a:r>
                  <a:rPr lang="ca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)</a:t>
                </a:r>
              </a:p>
              <a:p>
                <a:pPr marL="968375" lvl="0" indent="-342900">
                  <a:buAutoNum type="alphaLcParenR"/>
                </a:pPr>
                <a:r>
                  <a:rPr lang="ca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Es </a:t>
                </a:r>
                <a:r>
                  <a:rPr lang="ca-ES" sz="1800" dirty="0" err="1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possa</a:t>
                </a:r>
                <a:r>
                  <a:rPr lang="ca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rPr>
                  <a:t> una vàlvula en sèrie amb la bomba amb </a:t>
                </a:r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Ks=1.25/</a:t>
                </a:r>
                <a14:m>
                  <m:oMath xmlns:m="http://schemas.openxmlformats.org/officeDocument/2006/math">
                    <m:r>
                      <a:rPr lang="es-ES" sz="1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orbel"/>
                        <a:cs typeface="Corbel"/>
                      </a:rPr>
                      <m:t>𝛼</m:t>
                    </m:r>
                  </m:oMath>
                </a14:m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8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rbel"/>
                            <a:cs typeface="Corbel"/>
                          </a:rPr>
                        </m:ctrlPr>
                      </m:sSupPr>
                      <m:e>
                        <m:r>
                          <a:rPr lang="es-ES" sz="18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rbel"/>
                            <a:cs typeface="Corbel"/>
                          </a:rPr>
                          <m:t>𝑄</m:t>
                        </m:r>
                      </m:e>
                      <m:sup>
                        <m:r>
                          <a:rPr lang="es-ES" sz="18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Corbel"/>
                            <a:cs typeface="Corbel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 amb </a:t>
                </a:r>
                <a14:m>
                  <m:oMath xmlns:m="http://schemas.openxmlformats.org/officeDocument/2006/math">
                    <m:r>
                      <a:rPr lang="es-ES" sz="1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orbel"/>
                        <a:cs typeface="Corbel"/>
                      </a:rPr>
                      <m:t>𝛼</m:t>
                    </m:r>
                  </m:oMath>
                </a14:m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=0.25  (</a:t>
                </a:r>
                <a14:m>
                  <m:oMath xmlns:m="http://schemas.openxmlformats.org/officeDocument/2006/math">
                    <m:r>
                      <a:rPr lang="es-ES" sz="1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orbel"/>
                        <a:cs typeface="Corbel"/>
                      </a:rPr>
                      <m:t>𝛼</m:t>
                    </m:r>
                  </m:oMath>
                </a14:m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=0 </a:t>
                </a:r>
                <a:r>
                  <a:rPr lang="es-ES" sz="1800" dirty="0" err="1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vàlvula</a:t>
                </a:r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 tancada i </a:t>
                </a:r>
                <a14:m>
                  <m:oMath xmlns:m="http://schemas.openxmlformats.org/officeDocument/2006/math">
                    <m:r>
                      <a:rPr lang="es-ES" sz="1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orbel"/>
                        <a:cs typeface="Corbel"/>
                      </a:rPr>
                      <m:t>𝛼</m:t>
                    </m:r>
                  </m:oMath>
                </a14:m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=1 </a:t>
                </a:r>
                <a:r>
                  <a:rPr lang="es-ES" sz="1800" dirty="0" err="1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oberta</a:t>
                </a:r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)</a:t>
                </a:r>
              </a:p>
              <a:p>
                <a:pPr marL="968375" lvl="0" indent="-342900">
                  <a:buAutoNum type="alphaLcParenR"/>
                </a:pP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Es 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possa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 una válvula en bypass 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amb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 la bomba 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</a:rPr>
                  <a:t>Ks=1.25/</a:t>
                </a:r>
                <a14:m>
                  <m:oMath xmlns:m="http://schemas.openxmlformats.org/officeDocument/2006/math">
                    <m:r>
                      <a:rPr lang="es-E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orbel"/>
                        <a:cs typeface="Corbel"/>
                      </a:rPr>
                      <m:t>𝛼</m:t>
                    </m:r>
                  </m:oMath>
                </a14:m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</a:rPr>
                  <a:t>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orbel"/>
                            <a:cs typeface="Corbel"/>
                          </a:rPr>
                        </m:ctrlPr>
                      </m:sSupPr>
                      <m:e>
                        <m:r>
                          <a:rPr lang="es-ES" sz="1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orbel"/>
                            <a:cs typeface="Corbel"/>
                          </a:rPr>
                          <m:t>𝑄</m:t>
                        </m:r>
                      </m:e>
                      <m:sup>
                        <m:r>
                          <a:rPr lang="es-ES" sz="1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orbel"/>
                            <a:cs typeface="Corbel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</a:rPr>
                  <a:t> amb </a:t>
                </a:r>
                <a14:m>
                  <m:oMath xmlns:m="http://schemas.openxmlformats.org/officeDocument/2006/math">
                    <m:r>
                      <a:rPr lang="es-ES" sz="1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orbel"/>
                        <a:cs typeface="Corbel"/>
                      </a:rPr>
                      <m:t>𝛼</m:t>
                    </m:r>
                  </m:oMath>
                </a14:m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</a:rPr>
                  <a:t>=0.0625 (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</a:rPr>
                  <a:t>Lliurable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</a:rPr>
                  <a:t>)</a:t>
                </a:r>
              </a:p>
              <a:p>
                <a:pPr marL="968375" lvl="0" indent="-342900">
                  <a:buAutoNum type="alphaLcParenR"/>
                </a:pPr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Es compra una nova bomba i </a:t>
                </a:r>
                <a:r>
                  <a:rPr lang="es-ES" sz="1800" dirty="0" err="1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s’instal</a:t>
                </a:r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-la en serie. La bomba 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s-E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s-ES" sz="18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18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0</m:t>
                    </m:r>
                    <m:sSup>
                      <m:sSupPr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s-E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1800" dirty="0">
                    <a:solidFill>
                      <a:schemeClr val="dk1"/>
                    </a:solidFill>
                    <a:latin typeface="Corbel"/>
                    <a:ea typeface="Corbel"/>
                    <a:cs typeface="Corbel"/>
                  </a:rPr>
                  <a:t> </a:t>
                </a:r>
              </a:p>
              <a:p>
                <a:pPr marL="968375" lvl="0" indent="-342900">
                  <a:buAutoNum type="alphaLcParenR"/>
                </a:pP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Es compra la 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mateixa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 bomba 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però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  es 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possa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 en 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paral-lel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 (</a:t>
                </a:r>
                <a:r>
                  <a:rPr lang="es-ES" sz="1800" dirty="0" err="1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Lliurable</a:t>
                </a:r>
                <a:r>
                  <a:rPr lang="es-ES" sz="1800" dirty="0">
                    <a:solidFill>
                      <a:srgbClr val="FF0000"/>
                    </a:solidFill>
                    <a:latin typeface="Corbel"/>
                    <a:ea typeface="Corbel"/>
                    <a:cs typeface="Corbel"/>
                    <a:sym typeface="Corbel"/>
                  </a:rPr>
                  <a:t>)</a:t>
                </a:r>
                <a:endParaRPr lang="ca-ES" sz="1800" dirty="0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968375" lvl="0" indent="-342900">
                  <a:buAutoNum type="alphaLcParenR"/>
                </a:pPr>
                <a:endParaRPr lang="ca-ES" sz="1800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968375" lvl="0" indent="-342900">
                  <a:buAutoNum type="arabicParenR"/>
                </a:pPr>
                <a:endParaRPr lang="ca-ES" sz="1800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895350" lvl="0" indent="-182563"/>
                <a:endParaRPr lang="ca-ES" sz="1800" b="1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895350" lvl="0" indent="-182563"/>
                <a:endParaRPr lang="ca-ES" sz="1800" b="1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  <a:p>
                <a:pPr marL="895350" lvl="0" indent="-182563"/>
                <a:endParaRPr lang="ca-ES" sz="1800" b="1" dirty="0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mc:Choice>
        <mc:Fallback xmlns="">
          <p:sp>
            <p:nvSpPr>
              <p:cNvPr id="115" name="Google Shape;115;p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" y="1050474"/>
                <a:ext cx="11211014" cy="5838546"/>
              </a:xfrm>
              <a:prstGeom prst="rect">
                <a:avLst/>
              </a:prstGeom>
              <a:blipFill>
                <a:blip r:embed="rId4"/>
                <a:stretch>
                  <a:fillRect l="-1142" t="-939" r="-1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01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3.2 </a:t>
            </a:r>
            <a:r>
              <a:rPr lang="fr-FR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EXEMPLES I LLIURABLES.</a:t>
            </a: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3600" dirty="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7950" y="1050474"/>
            <a:ext cx="11211014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ca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2.  </a:t>
            </a:r>
            <a:r>
              <a:rPr lang="ca-ES" sz="2800" b="1" dirty="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Selecció diàmetre econòmic (</a:t>
            </a:r>
            <a:r>
              <a:rPr lang="ca-ES" sz="2800" b="1" dirty="0" err="1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Lliurable</a:t>
            </a:r>
            <a:r>
              <a:rPr lang="ca-ES" sz="2800" b="1" dirty="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) </a:t>
            </a:r>
          </a:p>
          <a:p>
            <a:pPr marL="625475" lvl="0"/>
            <a:endParaRPr lang="ca-ES"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751919-5860-BE40-4A17-7620E71C9CD7}"/>
              </a:ext>
            </a:extLst>
          </p:cNvPr>
          <p:cNvSpPr txBox="1"/>
          <p:nvPr/>
        </p:nvSpPr>
        <p:spPr>
          <a:xfrm>
            <a:off x="550335" y="1742951"/>
            <a:ext cx="1008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Un dels aspectes crítics en el disseny d’un circuit és la </a:t>
            </a:r>
            <a:r>
              <a:rPr lang="ca-ES" dirty="0" err="1"/>
              <a:t>sel·lecció</a:t>
            </a:r>
            <a:r>
              <a:rPr lang="ca-ES" dirty="0"/>
              <a:t> del diàmetre més econòmic tenint en compte el temps d’amortització del projecte. </a:t>
            </a:r>
          </a:p>
          <a:p>
            <a:endParaRPr lang="ca-ES" dirty="0"/>
          </a:p>
          <a:p>
            <a:r>
              <a:rPr lang="ca-ES" dirty="0"/>
              <a:t>Per una </a:t>
            </a:r>
            <a:r>
              <a:rPr lang="ca-ES" dirty="0" err="1"/>
              <a:t>instal-lació</a:t>
            </a:r>
            <a:r>
              <a:rPr lang="ca-ES" dirty="0"/>
              <a:t> es té </a:t>
            </a:r>
          </a:p>
        </p:txBody>
      </p:sp>
      <p:pic>
        <p:nvPicPr>
          <p:cNvPr id="20" name="45 Imagen">
            <a:extLst>
              <a:ext uri="{FF2B5EF4-FFF2-40B4-BE49-F238E27FC236}">
                <a16:creationId xmlns:a16="http://schemas.microsoft.com/office/drawing/2014/main" id="{34762C00-C75B-C6BF-4105-FC73A2610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983" y="2602572"/>
            <a:ext cx="3991017" cy="3355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9623EBEA-FD84-BD15-C019-09E7B4ADE476}"/>
              </a:ext>
            </a:extLst>
          </p:cNvPr>
          <p:cNvSpPr/>
          <p:nvPr/>
        </p:nvSpPr>
        <p:spPr bwMode="auto">
          <a:xfrm>
            <a:off x="1034480" y="5413820"/>
            <a:ext cx="504056" cy="2446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A562371-553C-954C-AF0C-CAB92C178863}"/>
              </a:ext>
            </a:extLst>
          </p:cNvPr>
          <p:cNvSpPr/>
          <p:nvPr/>
        </p:nvSpPr>
        <p:spPr bwMode="auto">
          <a:xfrm>
            <a:off x="1754560" y="4903329"/>
            <a:ext cx="828092" cy="68508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3571C8-249A-F8A3-AA2E-84F6F57C6899}"/>
              </a:ext>
            </a:extLst>
          </p:cNvPr>
          <p:cNvSpPr/>
          <p:nvPr/>
        </p:nvSpPr>
        <p:spPr bwMode="auto">
          <a:xfrm>
            <a:off x="3069053" y="4506333"/>
            <a:ext cx="792088" cy="7920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36B91AF-FE79-C5FB-AF0E-F511DA269B8E}"/>
              </a:ext>
            </a:extLst>
          </p:cNvPr>
          <p:cNvSpPr/>
          <p:nvPr/>
        </p:nvSpPr>
        <p:spPr bwMode="auto">
          <a:xfrm>
            <a:off x="3208781" y="5150213"/>
            <a:ext cx="693347" cy="2964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EB2610F-1405-138F-A592-75D0F2C93830}"/>
              </a:ext>
            </a:extLst>
          </p:cNvPr>
          <p:cNvSpPr/>
          <p:nvPr/>
        </p:nvSpPr>
        <p:spPr bwMode="auto">
          <a:xfrm>
            <a:off x="3286217" y="5632314"/>
            <a:ext cx="346674" cy="32543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BBF39D8-78F4-3495-E678-68A31B3312C6}"/>
              </a:ext>
            </a:extLst>
          </p:cNvPr>
          <p:cNvSpPr/>
          <p:nvPr/>
        </p:nvSpPr>
        <p:spPr bwMode="auto">
          <a:xfrm>
            <a:off x="4835206" y="2880850"/>
            <a:ext cx="828092" cy="68508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13608B31-3767-A46C-51C9-3A656A1ADBA2}"/>
                  </a:ext>
                </a:extLst>
              </p:cNvPr>
              <p:cNvSpPr txBox="1"/>
              <p:nvPr/>
            </p:nvSpPr>
            <p:spPr>
              <a:xfrm>
                <a:off x="1098012" y="4459203"/>
                <a:ext cx="1254181" cy="32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𝑖𝑛𝑓</m:t>
                        </m:r>
                      </m:sub>
                    </m:sSub>
                  </m:oMath>
                </a14:m>
                <a:r>
                  <a:rPr lang="en-GB" dirty="0"/>
                  <a:t>=30m</a:t>
                </a: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13608B31-3767-A46C-51C9-3A656A1AD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12" y="4459203"/>
                <a:ext cx="1254181" cy="325025"/>
              </a:xfrm>
              <a:prstGeom prst="rect">
                <a:avLst/>
              </a:prstGeom>
              <a:blipFill>
                <a:blip r:embed="rId5"/>
                <a:stretch>
                  <a:fillRect t="-1852" b="-1296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A4FCCCB1-E5AC-E0B0-8D30-753594D80D17}"/>
                  </a:ext>
                </a:extLst>
              </p:cNvPr>
              <p:cNvSpPr txBox="1"/>
              <p:nvPr/>
            </p:nvSpPr>
            <p:spPr>
              <a:xfrm>
                <a:off x="5708619" y="2510848"/>
                <a:ext cx="1254181" cy="324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𝑠𝑢𝑝</m:t>
                        </m:r>
                      </m:sub>
                    </m:sSub>
                  </m:oMath>
                </a14:m>
                <a:r>
                  <a:rPr lang="en-GB" dirty="0"/>
                  <a:t>=80m</a:t>
                </a: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A4FCCCB1-E5AC-E0B0-8D30-753594D80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619" y="2510848"/>
                <a:ext cx="1254181" cy="324384"/>
              </a:xfrm>
              <a:prstGeom prst="rect">
                <a:avLst/>
              </a:prstGeom>
              <a:blipFill>
                <a:blip r:embed="rId6"/>
                <a:stretch>
                  <a:fillRect t="-3774" b="-13208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1BF8B13-A608-A62B-CD85-BA6DC7A7CD83}"/>
                  </a:ext>
                </a:extLst>
              </p:cNvPr>
              <p:cNvSpPr txBox="1"/>
              <p:nvPr/>
            </p:nvSpPr>
            <p:spPr>
              <a:xfrm>
                <a:off x="2537615" y="5018217"/>
                <a:ext cx="12541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GB" dirty="0"/>
                  <a:t>= 5m</a:t>
                </a: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61BF8B13-A608-A62B-CD85-BA6DC7A7C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615" y="5018217"/>
                <a:ext cx="1254181" cy="369332"/>
              </a:xfrm>
              <a:prstGeom prst="rect">
                <a:avLst/>
              </a:prstGeom>
              <a:blipFill>
                <a:blip r:embed="rId7"/>
                <a:stretch>
                  <a:fillRect t="-3279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uadroTexto 39">
            <a:extLst>
              <a:ext uri="{FF2B5EF4-FFF2-40B4-BE49-F238E27FC236}">
                <a16:creationId xmlns:a16="http://schemas.microsoft.com/office/drawing/2014/main" id="{5DA5DD03-0ABB-3062-AF54-085349CA80AA}"/>
              </a:ext>
            </a:extLst>
          </p:cNvPr>
          <p:cNvSpPr txBox="1"/>
          <p:nvPr/>
        </p:nvSpPr>
        <p:spPr>
          <a:xfrm>
            <a:off x="5802998" y="3723841"/>
            <a:ext cx="61880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Cabal: Q=200 m^3/h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Longitud de conducció total: L=2000 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Pèrdues de càrrega singulars 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Rendiment total de la bomba (</a:t>
            </a:r>
            <a:r>
              <a:rPr kumimoji="0" lang="ca-ES" altLang="ca-E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bomba+motor</a:t>
            </a: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 η=0.70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Coeficient de fricció: f=0.02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Hores d’operació anuals: 4000 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energia: 0,15 €/kWh.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Vida útil canonada: 30 anys, tipus d’interès 5%.</a:t>
            </a:r>
          </a:p>
        </p:txBody>
      </p:sp>
    </p:spTree>
    <p:extLst>
      <p:ext uri="{BB962C8B-B14F-4D97-AF65-F5344CB8AC3E}">
        <p14:creationId xmlns:p14="http://schemas.microsoft.com/office/powerpoint/2010/main" val="352571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3.2 </a:t>
            </a:r>
            <a:r>
              <a:rPr lang="fr-FR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EXEMPLES I LLIURABLES.</a:t>
            </a: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3600" dirty="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7950" y="1050474"/>
            <a:ext cx="11211014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ca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2.  Selecció diàmetre econòmic </a:t>
            </a:r>
          </a:p>
          <a:p>
            <a:pPr marL="625475" lvl="0"/>
            <a:endParaRPr lang="ca-ES"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751919-5860-BE40-4A17-7620E71C9CD7}"/>
              </a:ext>
            </a:extLst>
          </p:cNvPr>
          <p:cNvSpPr txBox="1"/>
          <p:nvPr/>
        </p:nvSpPr>
        <p:spPr>
          <a:xfrm>
            <a:off x="461417" y="1718440"/>
            <a:ext cx="10083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Es valoren diferents diàmetres de canonada.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623EBEA-FD84-BD15-C019-09E7B4ADE476}"/>
              </a:ext>
            </a:extLst>
          </p:cNvPr>
          <p:cNvSpPr/>
          <p:nvPr/>
        </p:nvSpPr>
        <p:spPr bwMode="auto">
          <a:xfrm>
            <a:off x="1034480" y="5413820"/>
            <a:ext cx="504056" cy="2446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3571C8-249A-F8A3-AA2E-84F6F57C6899}"/>
              </a:ext>
            </a:extLst>
          </p:cNvPr>
          <p:cNvSpPr/>
          <p:nvPr/>
        </p:nvSpPr>
        <p:spPr bwMode="auto">
          <a:xfrm>
            <a:off x="3069053" y="4506333"/>
            <a:ext cx="792088" cy="7920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36B91AF-FE79-C5FB-AF0E-F511DA269B8E}"/>
              </a:ext>
            </a:extLst>
          </p:cNvPr>
          <p:cNvSpPr/>
          <p:nvPr/>
        </p:nvSpPr>
        <p:spPr bwMode="auto">
          <a:xfrm>
            <a:off x="3208781" y="5150213"/>
            <a:ext cx="693347" cy="2964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EB2610F-1405-138F-A592-75D0F2C93830}"/>
              </a:ext>
            </a:extLst>
          </p:cNvPr>
          <p:cNvSpPr/>
          <p:nvPr/>
        </p:nvSpPr>
        <p:spPr bwMode="auto">
          <a:xfrm>
            <a:off x="3286217" y="5632314"/>
            <a:ext cx="346674" cy="32543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01693C-5693-979B-8D46-19AC84C2265C}"/>
              </a:ext>
            </a:extLst>
          </p:cNvPr>
          <p:cNvSpPr txBox="1"/>
          <p:nvPr/>
        </p:nvSpPr>
        <p:spPr>
          <a:xfrm>
            <a:off x="538854" y="2053455"/>
            <a:ext cx="618807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 mm → 50 €/m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150 mm → 80 €/m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 mm → 120 €/m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250 mm → 170 €/m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300 mm → 230 €/m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350 mm → 300 €/m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a-ES" altLang="ca-E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400 mm → 380 €/m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C53CE3-93A5-35C8-F699-DB372B848991}"/>
              </a:ext>
            </a:extLst>
          </p:cNvPr>
          <p:cNvSpPr txBox="1"/>
          <p:nvPr/>
        </p:nvSpPr>
        <p:spPr>
          <a:xfrm>
            <a:off x="461417" y="3688351"/>
            <a:ext cx="1008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/>
              <a:t>Valorar quin es el diàmetre més econòmic.</a:t>
            </a:r>
          </a:p>
          <a:p>
            <a:r>
              <a:rPr lang="ca-ES" dirty="0"/>
              <a:t>Per això es suposarà el següent: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El cost d’energia es manté constant a 30 anys (simplificació)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El tipus d’interès es del 5% per a la compra de la canonada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/>
              <a:t>no es compta l’adquisició de la bomba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a-ES" dirty="0" err="1"/>
              <a:t>Anualitzar</a:t>
            </a:r>
            <a:r>
              <a:rPr lang="ca-ES" dirty="0"/>
              <a:t> amb el cost energètic i el CAPEX comptant el tipus d’interès. Triar el diàmetre òptim </a:t>
            </a:r>
          </a:p>
        </p:txBody>
      </p:sp>
    </p:spTree>
    <p:extLst>
      <p:ext uri="{BB962C8B-B14F-4D97-AF65-F5344CB8AC3E}">
        <p14:creationId xmlns:p14="http://schemas.microsoft.com/office/powerpoint/2010/main" val="3462029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0" y="1"/>
            <a:ext cx="12192000" cy="877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sldNum" idx="12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4371392" y="6487561"/>
            <a:ext cx="3449216" cy="35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i="1">
                <a:solidFill>
                  <a:srgbClr val="BABABA"/>
                </a:solidFill>
                <a:latin typeface="Calibri"/>
                <a:ea typeface="Calibri"/>
                <a:cs typeface="Calibri"/>
                <a:sym typeface="Calibri"/>
              </a:rPr>
              <a:t>Departament de Mecànica de Fluids</a:t>
            </a:r>
            <a:endParaRPr sz="1400" i="1">
              <a:solidFill>
                <a:srgbClr val="BABAB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3" descr="Imagen que contiene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76795"/>
            <a:ext cx="2161691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0" y="0"/>
            <a:ext cx="12192000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3.2 </a:t>
            </a:r>
            <a:r>
              <a:rPr lang="fr-FR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EXEMPLES I LLIURABLES.</a:t>
            </a:r>
            <a:r>
              <a:rPr lang="es-ES" sz="3600" dirty="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sz="3600" dirty="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07950" y="1050474"/>
            <a:ext cx="11211014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ca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3.  </a:t>
            </a:r>
            <a:r>
              <a:rPr lang="ca-ES" sz="2800" b="1" dirty="0" err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Lliurable</a:t>
            </a:r>
            <a:r>
              <a:rPr lang="ca-ES" sz="2800" b="1" dirty="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( 1 per grup)</a:t>
            </a:r>
          </a:p>
          <a:p>
            <a:pPr marL="625475" lvl="0"/>
            <a:endParaRPr lang="ca-ES"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895350" lvl="0" indent="-182563"/>
            <a:endParaRPr lang="ca-ES" sz="1800" b="1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623EBEA-FD84-BD15-C019-09E7B4ADE476}"/>
              </a:ext>
            </a:extLst>
          </p:cNvPr>
          <p:cNvSpPr/>
          <p:nvPr/>
        </p:nvSpPr>
        <p:spPr bwMode="auto">
          <a:xfrm>
            <a:off x="1034480" y="5413820"/>
            <a:ext cx="504056" cy="24464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3571C8-249A-F8A3-AA2E-84F6F57C6899}"/>
              </a:ext>
            </a:extLst>
          </p:cNvPr>
          <p:cNvSpPr/>
          <p:nvPr/>
        </p:nvSpPr>
        <p:spPr bwMode="auto">
          <a:xfrm>
            <a:off x="3069053" y="4506333"/>
            <a:ext cx="792088" cy="7920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36B91AF-FE79-C5FB-AF0E-F511DA269B8E}"/>
              </a:ext>
            </a:extLst>
          </p:cNvPr>
          <p:cNvSpPr/>
          <p:nvPr/>
        </p:nvSpPr>
        <p:spPr bwMode="auto">
          <a:xfrm>
            <a:off x="3208781" y="5150213"/>
            <a:ext cx="693347" cy="2964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EB2610F-1405-138F-A592-75D0F2C93830}"/>
              </a:ext>
            </a:extLst>
          </p:cNvPr>
          <p:cNvSpPr/>
          <p:nvPr/>
        </p:nvSpPr>
        <p:spPr bwMode="auto">
          <a:xfrm>
            <a:off x="3286217" y="5632314"/>
            <a:ext cx="346674" cy="32543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C53CE3-93A5-35C8-F699-DB372B848991}"/>
              </a:ext>
            </a:extLst>
          </p:cNvPr>
          <p:cNvSpPr txBox="1"/>
          <p:nvPr/>
        </p:nvSpPr>
        <p:spPr>
          <a:xfrm>
            <a:off x="321717" y="1616753"/>
            <a:ext cx="10083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b="1" dirty="0"/>
              <a:t>Part A</a:t>
            </a:r>
            <a:r>
              <a:rPr lang="ca-ES" dirty="0"/>
              <a:t>- Resolució manuscrita dels apartats indicats a l’ex. 1.</a:t>
            </a:r>
          </a:p>
          <a:p>
            <a:endParaRPr lang="ca-ES" dirty="0"/>
          </a:p>
          <a:p>
            <a:r>
              <a:rPr lang="ca-ES" b="1" dirty="0"/>
              <a:t>Part B- </a:t>
            </a:r>
            <a:r>
              <a:rPr lang="ca-ES" dirty="0"/>
              <a:t>Resolució manuscrita dels </a:t>
            </a:r>
            <a:r>
              <a:rPr lang="ca-ES" dirty="0" err="1"/>
              <a:t>pasos</a:t>
            </a:r>
            <a:r>
              <a:rPr lang="ca-ES" dirty="0"/>
              <a:t> seguits a l’ex.2 i explicació del càlcul</a:t>
            </a:r>
          </a:p>
          <a:p>
            <a:endParaRPr lang="ca-ES" dirty="0"/>
          </a:p>
          <a:p>
            <a:r>
              <a:rPr lang="ca-ES" b="1" dirty="0"/>
              <a:t>Part B- </a:t>
            </a:r>
            <a:r>
              <a:rPr lang="ca-ES" dirty="0"/>
              <a:t>Per la tria de diàmetre es pot adjuntar una taula tipus Excel que demostri quin és el millor diàmetre.</a:t>
            </a:r>
          </a:p>
        </p:txBody>
      </p:sp>
    </p:spTree>
    <p:extLst>
      <p:ext uri="{BB962C8B-B14F-4D97-AF65-F5344CB8AC3E}">
        <p14:creationId xmlns:p14="http://schemas.microsoft.com/office/powerpoint/2010/main" val="3332075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34" name="Google Shape;134;p5" descr="Interfaz de usuario gráfica, Texto, Correo electrónic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4" y="5997614"/>
            <a:ext cx="3228975" cy="860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Marc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1653</Words>
  <Application>Microsoft Office PowerPoint</Application>
  <PresentationFormat>Panorámica</PresentationFormat>
  <Paragraphs>258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Corbel</vt:lpstr>
      <vt:lpstr>Cambria Math</vt:lpstr>
      <vt:lpstr>Courier New</vt:lpstr>
      <vt:lpstr>Noto Sans Symbols</vt:lpstr>
      <vt:lpstr>Marco</vt:lpstr>
      <vt:lpstr>Unitat  3.  Regulació i pre-disseny d'un circuit de bombeig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Unitat 6. Ventiladors</dc:title>
  <dc:creator>Carme Morejudo</dc:creator>
  <cp:lastModifiedBy>Alexandre Presas</cp:lastModifiedBy>
  <cp:revision>69</cp:revision>
  <dcterms:created xsi:type="dcterms:W3CDTF">2025-10-24T07:18:52Z</dcterms:created>
  <dcterms:modified xsi:type="dcterms:W3CDTF">2026-02-17T20:32:05Z</dcterms:modified>
</cp:coreProperties>
</file>